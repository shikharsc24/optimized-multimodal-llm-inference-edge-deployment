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Merriweather"/>
      <p:regular r:id="rId29"/>
      <p:bold r:id="rId30"/>
      <p:italic r:id="rId31"/>
      <p:boldItalic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116D32-85B9-4D1D-8383-948903D5E1E7}">
  <a:tblStyle styleId="{0C116D32-85B9-4D1D-8383-948903D5E1E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5.xml"/><Relationship Id="rId33" Type="http://schemas.openxmlformats.org/officeDocument/2006/relationships/font" Target="fonts/DMSans-regular.fntdata"/><Relationship Id="rId10" Type="http://schemas.openxmlformats.org/officeDocument/2006/relationships/slide" Target="slides/slide4.xml"/><Relationship Id="rId32" Type="http://schemas.openxmlformats.org/officeDocument/2006/relationships/font" Target="fonts/Merriweather-boldItalic.fntdata"/><Relationship Id="rId13" Type="http://schemas.openxmlformats.org/officeDocument/2006/relationships/slide" Target="slides/slide7.xml"/><Relationship Id="rId35" Type="http://schemas.openxmlformats.org/officeDocument/2006/relationships/font" Target="fonts/DMSans-italic.fntdata"/><Relationship Id="rId12" Type="http://schemas.openxmlformats.org/officeDocument/2006/relationships/slide" Target="slides/slide6.xml"/><Relationship Id="rId34" Type="http://schemas.openxmlformats.org/officeDocument/2006/relationships/font" Target="fonts/DM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DM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20" Type="http://schemas.openxmlformats.org/officeDocument/2006/relationships/image" Target="../media/image13.png"/><Relationship Id="rId11" Type="http://schemas.openxmlformats.org/officeDocument/2006/relationships/image" Target="../media/image17.png"/><Relationship Id="rId10" Type="http://schemas.openxmlformats.org/officeDocument/2006/relationships/image" Target="../media/image34.png"/><Relationship Id="rId21" Type="http://schemas.openxmlformats.org/officeDocument/2006/relationships/image" Target="../media/image21.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4.png"/><Relationship Id="rId9" Type="http://schemas.openxmlformats.org/officeDocument/2006/relationships/image" Target="../media/image6.png"/><Relationship Id="rId15" Type="http://schemas.openxmlformats.org/officeDocument/2006/relationships/image" Target="../media/image15.png"/><Relationship Id="rId14" Type="http://schemas.openxmlformats.org/officeDocument/2006/relationships/image" Target="../media/image8.png"/><Relationship Id="rId17" Type="http://schemas.openxmlformats.org/officeDocument/2006/relationships/image" Target="../media/image20.png"/><Relationship Id="rId16" Type="http://schemas.openxmlformats.org/officeDocument/2006/relationships/image" Target="../media/image5.png"/><Relationship Id="rId5" Type="http://schemas.openxmlformats.org/officeDocument/2006/relationships/image" Target="../media/image9.png"/><Relationship Id="rId19" Type="http://schemas.openxmlformats.org/officeDocument/2006/relationships/image" Target="../media/image7.png"/><Relationship Id="rId6" Type="http://schemas.openxmlformats.org/officeDocument/2006/relationships/image" Target="../media/image10.png"/><Relationship Id="rId18" Type="http://schemas.openxmlformats.org/officeDocument/2006/relationships/image" Target="../media/image16.png"/><Relationship Id="rId7" Type="http://schemas.openxmlformats.org/officeDocument/2006/relationships/image" Target="../media/image3.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36.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4.png"/><Relationship Id="rId9"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35.png"/><Relationship Id="rId8"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40.png"/><Relationship Id="rId8"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9.png"/><Relationship Id="rId5" Type="http://schemas.openxmlformats.org/officeDocument/2006/relationships/image" Target="../media/image39.png"/><Relationship Id="rId6" Type="http://schemas.openxmlformats.org/officeDocument/2006/relationships/image" Target="../media/image30.png"/><Relationship Id="rId7"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43.png"/><Relationship Id="rId9" Type="http://schemas.openxmlformats.org/officeDocument/2006/relationships/image" Target="../media/image28.png"/><Relationship Id="rId5" Type="http://schemas.openxmlformats.org/officeDocument/2006/relationships/image" Target="../media/image42.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49.png"/><Relationship Id="rId5" Type="http://schemas.openxmlformats.org/officeDocument/2006/relationships/image" Target="../media/image54.png"/><Relationship Id="rId6" Type="http://schemas.openxmlformats.org/officeDocument/2006/relationships/image" Target="../media/image48.png"/><Relationship Id="rId7" Type="http://schemas.openxmlformats.org/officeDocument/2006/relationships/image" Target="../media/image5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52.png"/><Relationship Id="rId5"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53.png"/><Relationship Id="rId5"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36.png"/><Relationship Id="rId5"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273476" y="1252475"/>
            <a:ext cx="9836700" cy="992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US" sz="3000">
                <a:solidFill>
                  <a:srgbClr val="005088"/>
                </a:solidFill>
                <a:latin typeface="Merriweather"/>
                <a:ea typeface="Merriweather"/>
                <a:cs typeface="Merriweather"/>
                <a:sym typeface="Merriweather"/>
              </a:rPr>
              <a:t>Quantization Workflows to Optimize Model Accuracy and Deployment Performance for LLMs</a:t>
            </a:r>
            <a:endParaRPr b="1" sz="3000">
              <a:solidFill>
                <a:srgbClr val="005088"/>
              </a:solidFill>
              <a:latin typeface="Merriweather"/>
              <a:ea typeface="Merriweather"/>
              <a:cs typeface="Merriweather"/>
              <a:sym typeface="Merriweather"/>
            </a:endParaRPr>
          </a:p>
          <a:p>
            <a:pPr indent="0" lvl="0" marL="0" marR="0" rtl="0" algn="ctr">
              <a:spcBef>
                <a:spcPts val="0"/>
              </a:spcBef>
              <a:spcAft>
                <a:spcPts val="0"/>
              </a:spcAft>
              <a:buNone/>
            </a:pPr>
            <a:r>
              <a:t/>
            </a:r>
            <a:endParaRPr b="1" sz="3000">
              <a:solidFill>
                <a:srgbClr val="005088"/>
              </a:solidFill>
              <a:latin typeface="Merriweather"/>
              <a:ea typeface="Merriweather"/>
              <a:cs typeface="Merriweather"/>
              <a:sym typeface="Merriweather"/>
            </a:endParaRPr>
          </a:p>
        </p:txBody>
      </p:sp>
      <p:sp>
        <p:nvSpPr>
          <p:cNvPr id="86" name="Google Shape;86;p13"/>
          <p:cNvSpPr txBox="1"/>
          <p:nvPr/>
        </p:nvSpPr>
        <p:spPr>
          <a:xfrm>
            <a:off x="2638425" y="2928937"/>
            <a:ext cx="6915300" cy="269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750" u="none" cap="none" strike="noStrike">
                <a:solidFill>
                  <a:srgbClr val="475569"/>
                </a:solidFill>
                <a:latin typeface="DM Sans"/>
                <a:ea typeface="DM Sans"/>
                <a:cs typeface="DM Sans"/>
                <a:sym typeface="DM Sans"/>
              </a:rPr>
              <a:t>Undergraduate Project Report</a:t>
            </a:r>
            <a:endParaRPr sz="1500"/>
          </a:p>
        </p:txBody>
      </p:sp>
      <p:sp>
        <p:nvSpPr>
          <p:cNvPr id="87" name="Google Shape;87;p13"/>
          <p:cNvSpPr txBox="1"/>
          <p:nvPr/>
        </p:nvSpPr>
        <p:spPr>
          <a:xfrm>
            <a:off x="2734175" y="3514987"/>
            <a:ext cx="6915300" cy="5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Khushi Sahu (220532) | Shikhar Chaurasia (221009)</a:t>
            </a:r>
            <a:endParaRPr b="0" i="0" sz="1500" u="none" cap="none" strike="noStrike">
              <a:solidFill>
                <a:srgbClr val="333333"/>
              </a:solidFill>
              <a:latin typeface="DM Sans"/>
              <a:ea typeface="DM Sans"/>
              <a:cs typeface="DM Sans"/>
              <a:sym typeface="DM Sans"/>
            </a:endParaRPr>
          </a:p>
          <a:p>
            <a:pPr indent="0" lvl="0" marL="0" marR="0" rtl="0" algn="ctr">
              <a:lnSpc>
                <a:spcPct val="150000"/>
              </a:lnSpc>
              <a:spcBef>
                <a:spcPts val="0"/>
              </a:spcBef>
              <a:spcAft>
                <a:spcPts val="0"/>
              </a:spcAft>
              <a:buNone/>
            </a:pPr>
            <a:r>
              <a:t/>
            </a:r>
            <a:endParaRPr sz="1500">
              <a:solidFill>
                <a:srgbClr val="333333"/>
              </a:solidFill>
              <a:latin typeface="DM Sans"/>
              <a:ea typeface="DM Sans"/>
              <a:cs typeface="DM Sans"/>
              <a:sym typeface="DM Sans"/>
            </a:endParaRPr>
          </a:p>
        </p:txBody>
      </p:sp>
      <p:sp>
        <p:nvSpPr>
          <p:cNvPr id="88" name="Google Shape;88;p13"/>
          <p:cNvSpPr txBox="1"/>
          <p:nvPr/>
        </p:nvSpPr>
        <p:spPr>
          <a:xfrm>
            <a:off x="2638500" y="4195762"/>
            <a:ext cx="69153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800" u="none" cap="none" strike="noStrike">
                <a:solidFill>
                  <a:srgbClr val="333333"/>
                </a:solidFill>
                <a:latin typeface="DM Sans"/>
                <a:ea typeface="DM Sans"/>
                <a:cs typeface="DM Sans"/>
                <a:sym typeface="DM Sans"/>
              </a:rPr>
              <a:t>Supervisor:</a:t>
            </a:r>
            <a:r>
              <a:rPr b="0" i="0" lang="en-US" sz="1800" u="none" cap="none" strike="noStrike">
                <a:solidFill>
                  <a:srgbClr val="333333"/>
                </a:solidFill>
                <a:latin typeface="DM Sans"/>
                <a:ea typeface="DM Sans"/>
                <a:cs typeface="DM Sans"/>
                <a:sym typeface="DM Sans"/>
              </a:rPr>
              <a:t> Prof. R. M. Hegde</a:t>
            </a:r>
            <a:endParaRPr sz="1700"/>
          </a:p>
        </p:txBody>
      </p:sp>
      <p:sp>
        <p:nvSpPr>
          <p:cNvPr id="89" name="Google Shape;89;p13"/>
          <p:cNvSpPr txBox="1"/>
          <p:nvPr/>
        </p:nvSpPr>
        <p:spPr>
          <a:xfrm>
            <a:off x="2638425" y="4772962"/>
            <a:ext cx="6915300" cy="5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Department of Electrical Engineering</a:t>
            </a:r>
            <a:endParaRPr sz="1500">
              <a:solidFill>
                <a:srgbClr val="333333"/>
              </a:solidFill>
              <a:latin typeface="DM Sans"/>
              <a:ea typeface="DM Sans"/>
              <a:cs typeface="DM Sans"/>
              <a:sym typeface="DM Sans"/>
            </a:endParaRPr>
          </a:p>
          <a:p>
            <a:pPr indent="0" lvl="0" marL="0" marR="0" rtl="0" algn="ctr">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 Indian Institute of Technology Kanpur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 name="Google Shape;95;p14"/>
          <p:cNvSpPr txBox="1"/>
          <p:nvPr/>
        </p:nvSpPr>
        <p:spPr>
          <a:xfrm>
            <a:off x="1095375" y="2277070"/>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Abstract</a:t>
            </a:r>
            <a:endParaRPr/>
          </a:p>
        </p:txBody>
      </p:sp>
      <p:sp>
        <p:nvSpPr>
          <p:cNvPr id="96" name="Google Shape;96;p14"/>
          <p:cNvSpPr txBox="1"/>
          <p:nvPr/>
        </p:nvSpPr>
        <p:spPr>
          <a:xfrm>
            <a:off x="1095375" y="2612231"/>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Introduction</a:t>
            </a:r>
            <a:endParaRPr/>
          </a:p>
        </p:txBody>
      </p:sp>
      <p:sp>
        <p:nvSpPr>
          <p:cNvPr id="97" name="Google Shape;97;p14"/>
          <p:cNvSpPr txBox="1"/>
          <p:nvPr/>
        </p:nvSpPr>
        <p:spPr>
          <a:xfrm>
            <a:off x="1095375" y="2947392"/>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Problem Statement</a:t>
            </a:r>
            <a:endParaRPr/>
          </a:p>
        </p:txBody>
      </p:sp>
      <p:sp>
        <p:nvSpPr>
          <p:cNvPr id="98" name="Google Shape;98;p14"/>
          <p:cNvSpPr txBox="1"/>
          <p:nvPr/>
        </p:nvSpPr>
        <p:spPr>
          <a:xfrm>
            <a:off x="1095375" y="3282553"/>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Objective</a:t>
            </a:r>
            <a:endParaRPr/>
          </a:p>
        </p:txBody>
      </p:sp>
      <p:sp>
        <p:nvSpPr>
          <p:cNvPr id="99" name="Google Shape;99;p14"/>
          <p:cNvSpPr txBox="1"/>
          <p:nvPr/>
        </p:nvSpPr>
        <p:spPr>
          <a:xfrm>
            <a:off x="1095375" y="3617714"/>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Background: Quantization</a:t>
            </a:r>
            <a:endParaRPr/>
          </a:p>
        </p:txBody>
      </p:sp>
      <p:sp>
        <p:nvSpPr>
          <p:cNvPr id="100" name="Google Shape;100;p14"/>
          <p:cNvSpPr txBox="1"/>
          <p:nvPr/>
        </p:nvSpPr>
        <p:spPr>
          <a:xfrm>
            <a:off x="1095375" y="3952875"/>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Quantization Techniques</a:t>
            </a:r>
            <a:endParaRPr/>
          </a:p>
        </p:txBody>
      </p:sp>
      <p:sp>
        <p:nvSpPr>
          <p:cNvPr id="101" name="Google Shape;101;p14"/>
          <p:cNvSpPr txBox="1"/>
          <p:nvPr/>
        </p:nvSpPr>
        <p:spPr>
          <a:xfrm>
            <a:off x="1095375" y="4288035"/>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Multimodal Models</a:t>
            </a:r>
            <a:endParaRPr/>
          </a:p>
        </p:txBody>
      </p:sp>
      <p:sp>
        <p:nvSpPr>
          <p:cNvPr id="102" name="Google Shape;102;p14"/>
          <p:cNvSpPr txBox="1"/>
          <p:nvPr/>
        </p:nvSpPr>
        <p:spPr>
          <a:xfrm>
            <a:off x="1095375" y="4623196"/>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Relative Size of Models</a:t>
            </a:r>
            <a:endParaRPr/>
          </a:p>
        </p:txBody>
      </p:sp>
      <p:sp>
        <p:nvSpPr>
          <p:cNvPr id="103" name="Google Shape;103;p14"/>
          <p:cNvSpPr txBox="1"/>
          <p:nvPr/>
        </p:nvSpPr>
        <p:spPr>
          <a:xfrm>
            <a:off x="1095375" y="4958357"/>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Types of INT4</a:t>
            </a:r>
            <a:endParaRPr/>
          </a:p>
        </p:txBody>
      </p:sp>
      <p:sp>
        <p:nvSpPr>
          <p:cNvPr id="104" name="Google Shape;104;p14"/>
          <p:cNvSpPr txBox="1"/>
          <p:nvPr/>
        </p:nvSpPr>
        <p:spPr>
          <a:xfrm>
            <a:off x="1095375" y="5293518"/>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Types of INT8</a:t>
            </a:r>
            <a:endParaRPr/>
          </a:p>
        </p:txBody>
      </p:sp>
      <p:sp>
        <p:nvSpPr>
          <p:cNvPr id="105" name="Google Shape;105;p14"/>
          <p:cNvSpPr txBox="1"/>
          <p:nvPr/>
        </p:nvSpPr>
        <p:spPr>
          <a:xfrm>
            <a:off x="6505575" y="2277070"/>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Model Comparison</a:t>
            </a:r>
            <a:endParaRPr/>
          </a:p>
        </p:txBody>
      </p:sp>
      <p:sp>
        <p:nvSpPr>
          <p:cNvPr id="106" name="Google Shape;106;p14"/>
          <p:cNvSpPr txBox="1"/>
          <p:nvPr/>
        </p:nvSpPr>
        <p:spPr>
          <a:xfrm>
            <a:off x="6505575" y="2612231"/>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Evaluation Metrics (BLEU)</a:t>
            </a:r>
            <a:endParaRPr/>
          </a:p>
        </p:txBody>
      </p:sp>
      <p:sp>
        <p:nvSpPr>
          <p:cNvPr id="107" name="Google Shape;107;p14"/>
          <p:cNvSpPr txBox="1"/>
          <p:nvPr/>
        </p:nvSpPr>
        <p:spPr>
          <a:xfrm>
            <a:off x="6505575" y="2947392"/>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Evaluation Metrics (METEOR)</a:t>
            </a:r>
            <a:endParaRPr/>
          </a:p>
        </p:txBody>
      </p:sp>
      <p:sp>
        <p:nvSpPr>
          <p:cNvPr id="108" name="Google Shape;108;p14"/>
          <p:cNvSpPr txBox="1"/>
          <p:nvPr/>
        </p:nvSpPr>
        <p:spPr>
          <a:xfrm>
            <a:off x="6505575" y="3282553"/>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Evaluation Metrics (ROUGE)</a:t>
            </a:r>
            <a:endParaRPr/>
          </a:p>
        </p:txBody>
      </p:sp>
      <p:sp>
        <p:nvSpPr>
          <p:cNvPr id="109" name="Google Shape;109;p14"/>
          <p:cNvSpPr txBox="1"/>
          <p:nvPr/>
        </p:nvSpPr>
        <p:spPr>
          <a:xfrm>
            <a:off x="6505575" y="3617714"/>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COCO Dataset Evaluation</a:t>
            </a:r>
            <a:endParaRPr/>
          </a:p>
        </p:txBody>
      </p:sp>
      <p:sp>
        <p:nvSpPr>
          <p:cNvPr id="110" name="Google Shape;110;p14"/>
          <p:cNvSpPr txBox="1"/>
          <p:nvPr/>
        </p:nvSpPr>
        <p:spPr>
          <a:xfrm>
            <a:off x="6505575" y="3952875"/>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Results (INT8)</a:t>
            </a:r>
            <a:endParaRPr/>
          </a:p>
        </p:txBody>
      </p:sp>
      <p:sp>
        <p:nvSpPr>
          <p:cNvPr id="111" name="Google Shape;111;p14"/>
          <p:cNvSpPr txBox="1"/>
          <p:nvPr/>
        </p:nvSpPr>
        <p:spPr>
          <a:xfrm>
            <a:off x="6505575" y="4288035"/>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Results (INT4)</a:t>
            </a:r>
            <a:endParaRPr/>
          </a:p>
        </p:txBody>
      </p:sp>
      <p:sp>
        <p:nvSpPr>
          <p:cNvPr id="112" name="Google Shape;112;p14"/>
          <p:cNvSpPr txBox="1"/>
          <p:nvPr/>
        </p:nvSpPr>
        <p:spPr>
          <a:xfrm>
            <a:off x="6505575" y="4623196"/>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Results Summary</a:t>
            </a:r>
            <a:endParaRPr/>
          </a:p>
        </p:txBody>
      </p:sp>
      <p:sp>
        <p:nvSpPr>
          <p:cNvPr id="113" name="Google Shape;113;p14"/>
          <p:cNvSpPr txBox="1"/>
          <p:nvPr/>
        </p:nvSpPr>
        <p:spPr>
          <a:xfrm>
            <a:off x="6505575" y="4958357"/>
            <a:ext cx="4924425"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Conclusion</a:t>
            </a:r>
            <a:endParaRPr/>
          </a:p>
        </p:txBody>
      </p:sp>
      <p:pic>
        <p:nvPicPr>
          <p:cNvPr descr="image.png" id="114" name="Google Shape;114;p14"/>
          <p:cNvPicPr preferRelativeResize="0"/>
          <p:nvPr/>
        </p:nvPicPr>
        <p:blipFill rotWithShape="1">
          <a:blip r:embed="rId4">
            <a:alphaModFix/>
          </a:blip>
          <a:srcRect b="0" l="0" r="0" t="0"/>
          <a:stretch/>
        </p:blipFill>
        <p:spPr>
          <a:xfrm>
            <a:off x="762000" y="2305645"/>
            <a:ext cx="285750" cy="171450"/>
          </a:xfrm>
          <a:prstGeom prst="rect">
            <a:avLst/>
          </a:prstGeom>
          <a:noFill/>
          <a:ln>
            <a:noFill/>
          </a:ln>
        </p:spPr>
      </p:pic>
      <p:pic>
        <p:nvPicPr>
          <p:cNvPr descr="image.png" id="115" name="Google Shape;115;p14"/>
          <p:cNvPicPr preferRelativeResize="0"/>
          <p:nvPr/>
        </p:nvPicPr>
        <p:blipFill rotWithShape="1">
          <a:blip r:embed="rId5">
            <a:alphaModFix/>
          </a:blip>
          <a:srcRect b="0" l="0" r="0" t="0"/>
          <a:stretch/>
        </p:blipFill>
        <p:spPr>
          <a:xfrm>
            <a:off x="762000" y="2640806"/>
            <a:ext cx="285750" cy="171450"/>
          </a:xfrm>
          <a:prstGeom prst="rect">
            <a:avLst/>
          </a:prstGeom>
          <a:noFill/>
          <a:ln>
            <a:noFill/>
          </a:ln>
        </p:spPr>
      </p:pic>
      <p:pic>
        <p:nvPicPr>
          <p:cNvPr descr="image.png" id="116" name="Google Shape;116;p14"/>
          <p:cNvPicPr preferRelativeResize="0"/>
          <p:nvPr/>
        </p:nvPicPr>
        <p:blipFill rotWithShape="1">
          <a:blip r:embed="rId6">
            <a:alphaModFix/>
          </a:blip>
          <a:srcRect b="0" l="0" r="0" t="0"/>
          <a:stretch/>
        </p:blipFill>
        <p:spPr>
          <a:xfrm>
            <a:off x="762000" y="2975967"/>
            <a:ext cx="285750" cy="171450"/>
          </a:xfrm>
          <a:prstGeom prst="rect">
            <a:avLst/>
          </a:prstGeom>
          <a:noFill/>
          <a:ln>
            <a:noFill/>
          </a:ln>
        </p:spPr>
      </p:pic>
      <p:pic>
        <p:nvPicPr>
          <p:cNvPr descr="image.png" id="117" name="Google Shape;117;p14"/>
          <p:cNvPicPr preferRelativeResize="0"/>
          <p:nvPr/>
        </p:nvPicPr>
        <p:blipFill rotWithShape="1">
          <a:blip r:embed="rId7">
            <a:alphaModFix/>
          </a:blip>
          <a:srcRect b="0" l="0" r="0" t="0"/>
          <a:stretch/>
        </p:blipFill>
        <p:spPr>
          <a:xfrm>
            <a:off x="762000" y="3311128"/>
            <a:ext cx="285750" cy="171450"/>
          </a:xfrm>
          <a:prstGeom prst="rect">
            <a:avLst/>
          </a:prstGeom>
          <a:noFill/>
          <a:ln>
            <a:noFill/>
          </a:ln>
        </p:spPr>
      </p:pic>
      <p:pic>
        <p:nvPicPr>
          <p:cNvPr descr="image.png" id="118" name="Google Shape;118;p14"/>
          <p:cNvPicPr preferRelativeResize="0"/>
          <p:nvPr/>
        </p:nvPicPr>
        <p:blipFill rotWithShape="1">
          <a:blip r:embed="rId8">
            <a:alphaModFix/>
          </a:blip>
          <a:srcRect b="0" l="0" r="0" t="0"/>
          <a:stretch/>
        </p:blipFill>
        <p:spPr>
          <a:xfrm>
            <a:off x="762000" y="3646289"/>
            <a:ext cx="285750" cy="171450"/>
          </a:xfrm>
          <a:prstGeom prst="rect">
            <a:avLst/>
          </a:prstGeom>
          <a:noFill/>
          <a:ln>
            <a:noFill/>
          </a:ln>
        </p:spPr>
      </p:pic>
      <p:pic>
        <p:nvPicPr>
          <p:cNvPr descr="image.png" id="119" name="Google Shape;119;p14"/>
          <p:cNvPicPr preferRelativeResize="0"/>
          <p:nvPr/>
        </p:nvPicPr>
        <p:blipFill rotWithShape="1">
          <a:blip r:embed="rId9">
            <a:alphaModFix/>
          </a:blip>
          <a:srcRect b="0" l="0" r="0" t="0"/>
          <a:stretch/>
        </p:blipFill>
        <p:spPr>
          <a:xfrm>
            <a:off x="762000" y="3981450"/>
            <a:ext cx="285750" cy="171450"/>
          </a:xfrm>
          <a:prstGeom prst="rect">
            <a:avLst/>
          </a:prstGeom>
          <a:noFill/>
          <a:ln>
            <a:noFill/>
          </a:ln>
        </p:spPr>
      </p:pic>
      <p:pic>
        <p:nvPicPr>
          <p:cNvPr descr="image.png" id="120" name="Google Shape;120;p14"/>
          <p:cNvPicPr preferRelativeResize="0"/>
          <p:nvPr/>
        </p:nvPicPr>
        <p:blipFill rotWithShape="1">
          <a:blip r:embed="rId10">
            <a:alphaModFix/>
          </a:blip>
          <a:srcRect b="0" l="0" r="0" t="0"/>
          <a:stretch/>
        </p:blipFill>
        <p:spPr>
          <a:xfrm>
            <a:off x="762000" y="4316610"/>
            <a:ext cx="285750" cy="171450"/>
          </a:xfrm>
          <a:prstGeom prst="rect">
            <a:avLst/>
          </a:prstGeom>
          <a:noFill/>
          <a:ln>
            <a:noFill/>
          </a:ln>
        </p:spPr>
      </p:pic>
      <p:pic>
        <p:nvPicPr>
          <p:cNvPr descr="image.png" id="121" name="Google Shape;121;p14"/>
          <p:cNvPicPr preferRelativeResize="0"/>
          <p:nvPr/>
        </p:nvPicPr>
        <p:blipFill rotWithShape="1">
          <a:blip r:embed="rId11">
            <a:alphaModFix/>
          </a:blip>
          <a:srcRect b="0" l="0" r="0" t="0"/>
          <a:stretch/>
        </p:blipFill>
        <p:spPr>
          <a:xfrm>
            <a:off x="762000" y="4651771"/>
            <a:ext cx="285750" cy="171450"/>
          </a:xfrm>
          <a:prstGeom prst="rect">
            <a:avLst/>
          </a:prstGeom>
          <a:noFill/>
          <a:ln>
            <a:noFill/>
          </a:ln>
        </p:spPr>
      </p:pic>
      <p:pic>
        <p:nvPicPr>
          <p:cNvPr descr="image.png" id="122" name="Google Shape;122;p14"/>
          <p:cNvPicPr preferRelativeResize="0"/>
          <p:nvPr/>
        </p:nvPicPr>
        <p:blipFill rotWithShape="1">
          <a:blip r:embed="rId12">
            <a:alphaModFix/>
          </a:blip>
          <a:srcRect b="0" l="0" r="0" t="0"/>
          <a:stretch/>
        </p:blipFill>
        <p:spPr>
          <a:xfrm>
            <a:off x="762000" y="4986932"/>
            <a:ext cx="285750" cy="171450"/>
          </a:xfrm>
          <a:prstGeom prst="rect">
            <a:avLst/>
          </a:prstGeom>
          <a:noFill/>
          <a:ln>
            <a:noFill/>
          </a:ln>
        </p:spPr>
      </p:pic>
      <p:pic>
        <p:nvPicPr>
          <p:cNvPr descr="image.png" id="123" name="Google Shape;123;p14"/>
          <p:cNvPicPr preferRelativeResize="0"/>
          <p:nvPr/>
        </p:nvPicPr>
        <p:blipFill rotWithShape="1">
          <a:blip r:embed="rId13">
            <a:alphaModFix/>
          </a:blip>
          <a:srcRect b="0" l="0" r="0" t="0"/>
          <a:stretch/>
        </p:blipFill>
        <p:spPr>
          <a:xfrm>
            <a:off x="762000" y="5322093"/>
            <a:ext cx="285750" cy="171450"/>
          </a:xfrm>
          <a:prstGeom prst="rect">
            <a:avLst/>
          </a:prstGeom>
          <a:noFill/>
          <a:ln>
            <a:noFill/>
          </a:ln>
        </p:spPr>
      </p:pic>
      <p:pic>
        <p:nvPicPr>
          <p:cNvPr descr="image.png" id="124" name="Google Shape;124;p14"/>
          <p:cNvPicPr preferRelativeResize="0"/>
          <p:nvPr/>
        </p:nvPicPr>
        <p:blipFill rotWithShape="1">
          <a:blip r:embed="rId14">
            <a:alphaModFix/>
          </a:blip>
          <a:srcRect b="0" l="0" r="0" t="0"/>
          <a:stretch/>
        </p:blipFill>
        <p:spPr>
          <a:xfrm>
            <a:off x="6172200" y="2305645"/>
            <a:ext cx="285750" cy="171450"/>
          </a:xfrm>
          <a:prstGeom prst="rect">
            <a:avLst/>
          </a:prstGeom>
          <a:noFill/>
          <a:ln>
            <a:noFill/>
          </a:ln>
        </p:spPr>
      </p:pic>
      <p:pic>
        <p:nvPicPr>
          <p:cNvPr descr="image.png" id="125" name="Google Shape;125;p14"/>
          <p:cNvPicPr preferRelativeResize="0"/>
          <p:nvPr/>
        </p:nvPicPr>
        <p:blipFill rotWithShape="1">
          <a:blip r:embed="rId15">
            <a:alphaModFix/>
          </a:blip>
          <a:srcRect b="0" l="0" r="0" t="0"/>
          <a:stretch/>
        </p:blipFill>
        <p:spPr>
          <a:xfrm>
            <a:off x="6172200" y="2640806"/>
            <a:ext cx="285750" cy="171450"/>
          </a:xfrm>
          <a:prstGeom prst="rect">
            <a:avLst/>
          </a:prstGeom>
          <a:noFill/>
          <a:ln>
            <a:noFill/>
          </a:ln>
        </p:spPr>
      </p:pic>
      <p:pic>
        <p:nvPicPr>
          <p:cNvPr descr="image.png" id="126" name="Google Shape;126;p14"/>
          <p:cNvPicPr preferRelativeResize="0"/>
          <p:nvPr/>
        </p:nvPicPr>
        <p:blipFill rotWithShape="1">
          <a:blip r:embed="rId15">
            <a:alphaModFix/>
          </a:blip>
          <a:srcRect b="0" l="0" r="0" t="0"/>
          <a:stretch/>
        </p:blipFill>
        <p:spPr>
          <a:xfrm>
            <a:off x="6172200" y="2975967"/>
            <a:ext cx="285750" cy="171450"/>
          </a:xfrm>
          <a:prstGeom prst="rect">
            <a:avLst/>
          </a:prstGeom>
          <a:noFill/>
          <a:ln>
            <a:noFill/>
          </a:ln>
        </p:spPr>
      </p:pic>
      <p:pic>
        <p:nvPicPr>
          <p:cNvPr descr="image.png" id="127" name="Google Shape;127;p14"/>
          <p:cNvPicPr preferRelativeResize="0"/>
          <p:nvPr/>
        </p:nvPicPr>
        <p:blipFill rotWithShape="1">
          <a:blip r:embed="rId16">
            <a:alphaModFix/>
          </a:blip>
          <a:srcRect b="0" l="0" r="0" t="0"/>
          <a:stretch/>
        </p:blipFill>
        <p:spPr>
          <a:xfrm>
            <a:off x="6172200" y="3311128"/>
            <a:ext cx="285750" cy="171450"/>
          </a:xfrm>
          <a:prstGeom prst="rect">
            <a:avLst/>
          </a:prstGeom>
          <a:noFill/>
          <a:ln>
            <a:noFill/>
          </a:ln>
        </p:spPr>
      </p:pic>
      <p:pic>
        <p:nvPicPr>
          <p:cNvPr descr="image.png" id="128" name="Google Shape;128;p14"/>
          <p:cNvPicPr preferRelativeResize="0"/>
          <p:nvPr/>
        </p:nvPicPr>
        <p:blipFill rotWithShape="1">
          <a:blip r:embed="rId17">
            <a:alphaModFix/>
          </a:blip>
          <a:srcRect b="0" l="0" r="0" t="0"/>
          <a:stretch/>
        </p:blipFill>
        <p:spPr>
          <a:xfrm>
            <a:off x="6172200" y="3646289"/>
            <a:ext cx="285750" cy="171450"/>
          </a:xfrm>
          <a:prstGeom prst="rect">
            <a:avLst/>
          </a:prstGeom>
          <a:noFill/>
          <a:ln>
            <a:noFill/>
          </a:ln>
        </p:spPr>
      </p:pic>
      <p:pic>
        <p:nvPicPr>
          <p:cNvPr descr="image.png" id="129" name="Google Shape;129;p14"/>
          <p:cNvPicPr preferRelativeResize="0"/>
          <p:nvPr/>
        </p:nvPicPr>
        <p:blipFill rotWithShape="1">
          <a:blip r:embed="rId18">
            <a:alphaModFix/>
          </a:blip>
          <a:srcRect b="0" l="0" r="0" t="0"/>
          <a:stretch/>
        </p:blipFill>
        <p:spPr>
          <a:xfrm>
            <a:off x="6172200" y="3981450"/>
            <a:ext cx="285750" cy="171450"/>
          </a:xfrm>
          <a:prstGeom prst="rect">
            <a:avLst/>
          </a:prstGeom>
          <a:noFill/>
          <a:ln>
            <a:noFill/>
          </a:ln>
        </p:spPr>
      </p:pic>
      <p:pic>
        <p:nvPicPr>
          <p:cNvPr descr="image.png" id="130" name="Google Shape;130;p14"/>
          <p:cNvPicPr preferRelativeResize="0"/>
          <p:nvPr/>
        </p:nvPicPr>
        <p:blipFill rotWithShape="1">
          <a:blip r:embed="rId19">
            <a:alphaModFix/>
          </a:blip>
          <a:srcRect b="0" l="0" r="0" t="0"/>
          <a:stretch/>
        </p:blipFill>
        <p:spPr>
          <a:xfrm>
            <a:off x="6172200" y="4316610"/>
            <a:ext cx="285750" cy="171450"/>
          </a:xfrm>
          <a:prstGeom prst="rect">
            <a:avLst/>
          </a:prstGeom>
          <a:noFill/>
          <a:ln>
            <a:noFill/>
          </a:ln>
        </p:spPr>
      </p:pic>
      <p:pic>
        <p:nvPicPr>
          <p:cNvPr descr="image.png" id="131" name="Google Shape;131;p14"/>
          <p:cNvPicPr preferRelativeResize="0"/>
          <p:nvPr/>
        </p:nvPicPr>
        <p:blipFill rotWithShape="1">
          <a:blip r:embed="rId20">
            <a:alphaModFix/>
          </a:blip>
          <a:srcRect b="0" l="0" r="0" t="0"/>
          <a:stretch/>
        </p:blipFill>
        <p:spPr>
          <a:xfrm>
            <a:off x="6172200" y="4651771"/>
            <a:ext cx="285750" cy="171450"/>
          </a:xfrm>
          <a:prstGeom prst="rect">
            <a:avLst/>
          </a:prstGeom>
          <a:noFill/>
          <a:ln>
            <a:noFill/>
          </a:ln>
        </p:spPr>
      </p:pic>
      <p:pic>
        <p:nvPicPr>
          <p:cNvPr descr="image.png" id="132" name="Google Shape;132;p14"/>
          <p:cNvPicPr preferRelativeResize="0"/>
          <p:nvPr/>
        </p:nvPicPr>
        <p:blipFill rotWithShape="1">
          <a:blip r:embed="rId21">
            <a:alphaModFix/>
          </a:blip>
          <a:srcRect b="0" l="0" r="0" t="0"/>
          <a:stretch/>
        </p:blipFill>
        <p:spPr>
          <a:xfrm>
            <a:off x="6172200" y="4986932"/>
            <a:ext cx="285750" cy="171450"/>
          </a:xfrm>
          <a:prstGeom prst="rect">
            <a:avLst/>
          </a:prstGeom>
          <a:noFill/>
          <a:ln>
            <a:noFill/>
          </a:ln>
        </p:spPr>
      </p:pic>
      <p:sp>
        <p:nvSpPr>
          <p:cNvPr id="133" name="Google Shape;133;p1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37" name="Shape 137"/>
        <p:cNvGrpSpPr/>
        <p:nvPr/>
      </p:nvGrpSpPr>
      <p:grpSpPr>
        <a:xfrm>
          <a:off x="0" y="0"/>
          <a:ext cx="0" cy="0"/>
          <a:chOff x="0" y="0"/>
          <a:chExt cx="0" cy="0"/>
        </a:xfrm>
      </p:grpSpPr>
      <p:pic>
        <p:nvPicPr>
          <p:cNvPr descr="image.png" id="138" name="Google Shape;138;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9" name="Google Shape;139;p15"/>
          <p:cNvSpPr/>
          <p:nvPr/>
        </p:nvSpPr>
        <p:spPr>
          <a:xfrm>
            <a:off x="5619750" y="2052935"/>
            <a:ext cx="952500" cy="4762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5"/>
          <p:cNvSpPr txBox="1"/>
          <p:nvPr/>
        </p:nvSpPr>
        <p:spPr>
          <a:xfrm>
            <a:off x="4640818" y="2386310"/>
            <a:ext cx="2910363" cy="83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005088"/>
                </a:solidFill>
                <a:latin typeface="Merriweather"/>
                <a:ea typeface="Merriweather"/>
                <a:cs typeface="Merriweather"/>
                <a:sym typeface="Merriweather"/>
              </a:rPr>
              <a:t>Abstract</a:t>
            </a:r>
            <a:endParaRPr/>
          </a:p>
        </p:txBody>
      </p:sp>
      <p:sp>
        <p:nvSpPr>
          <p:cNvPr id="141" name="Google Shape;141;p15"/>
          <p:cNvSpPr txBox="1"/>
          <p:nvPr/>
        </p:nvSpPr>
        <p:spPr>
          <a:xfrm>
            <a:off x="1123950" y="3415010"/>
            <a:ext cx="9944100" cy="1675804"/>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333333"/>
                </a:solidFill>
                <a:latin typeface="DM Sans"/>
                <a:ea typeface="DM Sans"/>
                <a:cs typeface="DM Sans"/>
                <a:sym typeface="DM Sans"/>
              </a:rPr>
              <a:t>Quantization is a key model compression technique that reduces floating-point weights and activations into low-bit integer representations for efficient deployment. This report presents a complete study of INT8/INT4 formats, block-wise strategies, and the GGUF format. It also covers multimodal models and their evaluation metrics (BLEU, METEOR, ROUGE) on the COCO dataset, consolidating the theoretical, architectural, and evaluation aspects of quantization.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45" name="Shape 145"/>
        <p:cNvGrpSpPr/>
        <p:nvPr/>
      </p:nvGrpSpPr>
      <p:grpSpPr>
        <a:xfrm>
          <a:off x="0" y="0"/>
          <a:ext cx="0" cy="0"/>
          <a:chOff x="0" y="0"/>
          <a:chExt cx="0" cy="0"/>
        </a:xfrm>
      </p:grpSpPr>
      <p:pic>
        <p:nvPicPr>
          <p:cNvPr descr="image.png" id="146" name="Google Shape;14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6"/>
          <p:cNvPicPr preferRelativeResize="0"/>
          <p:nvPr/>
        </p:nvPicPr>
        <p:blipFill rotWithShape="1">
          <a:blip r:embed="rId4">
            <a:alphaModFix/>
          </a:blip>
          <a:srcRect b="0" l="0" r="0" t="0"/>
          <a:stretch/>
        </p:blipFill>
        <p:spPr>
          <a:xfrm>
            <a:off x="571500" y="2295525"/>
            <a:ext cx="5286375" cy="3219450"/>
          </a:xfrm>
          <a:prstGeom prst="rect">
            <a:avLst/>
          </a:prstGeom>
          <a:noFill/>
          <a:ln>
            <a:noFill/>
          </a:ln>
        </p:spPr>
      </p:pic>
      <p:pic>
        <p:nvPicPr>
          <p:cNvPr descr="image.png" id="148" name="Google Shape;148;p16"/>
          <p:cNvPicPr preferRelativeResize="0"/>
          <p:nvPr/>
        </p:nvPicPr>
        <p:blipFill rotWithShape="1">
          <a:blip r:embed="rId5">
            <a:alphaModFix/>
          </a:blip>
          <a:srcRect b="0" l="0" r="0" t="0"/>
          <a:stretch/>
        </p:blipFill>
        <p:spPr>
          <a:xfrm>
            <a:off x="6334125" y="2295525"/>
            <a:ext cx="5286375" cy="3219450"/>
          </a:xfrm>
          <a:prstGeom prst="rect">
            <a:avLst/>
          </a:prstGeom>
          <a:noFill/>
          <a:ln>
            <a:noFill/>
          </a:ln>
        </p:spPr>
      </p:pic>
      <p:sp>
        <p:nvSpPr>
          <p:cNvPr id="149" name="Google Shape;149;p16"/>
          <p:cNvSpPr txBox="1"/>
          <p:nvPr/>
        </p:nvSpPr>
        <p:spPr>
          <a:xfrm>
            <a:off x="962025" y="2686050"/>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The Rise of LLMs</a:t>
            </a:r>
            <a:endParaRPr/>
          </a:p>
        </p:txBody>
      </p:sp>
      <p:sp>
        <p:nvSpPr>
          <p:cNvPr id="150" name="Google Shape;150;p16"/>
          <p:cNvSpPr txBox="1"/>
          <p:nvPr/>
        </p:nvSpPr>
        <p:spPr>
          <a:xfrm>
            <a:off x="962025" y="3219450"/>
            <a:ext cx="4505325" cy="1428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Large Language Models (LLMs) and multimodal systems have grown exponentially, often containing billions of parameters. They achieve remarkable performance on tasks like reasoning, image understanding, and text generation.</a:t>
            </a:r>
            <a:endParaRPr/>
          </a:p>
        </p:txBody>
      </p:sp>
      <p:sp>
        <p:nvSpPr>
          <p:cNvPr id="151" name="Google Shape;151;p16"/>
          <p:cNvSpPr txBox="1"/>
          <p:nvPr/>
        </p:nvSpPr>
        <p:spPr>
          <a:xfrm>
            <a:off x="6724650" y="2686050"/>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The Deployment Challenge</a:t>
            </a:r>
            <a:endParaRPr/>
          </a:p>
        </p:txBody>
      </p:sp>
      <p:sp>
        <p:nvSpPr>
          <p:cNvPr id="152" name="Google Shape;152;p16"/>
          <p:cNvSpPr txBox="1"/>
          <p:nvPr/>
        </p:nvSpPr>
        <p:spPr>
          <a:xfrm>
            <a:off x="6724650" y="3219450"/>
            <a:ext cx="4505325" cy="1714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Deploying these models in full FP32 or FP16 precision is impractical for most real-world hardware (laptops, mobile devices). Quantization addresses this by reducing numerical precision, enabling 4-16x size reductions and improving speed, while preserving accuracy.</a:t>
            </a:r>
            <a:endParaRPr/>
          </a:p>
        </p:txBody>
      </p:sp>
      <p:sp>
        <p:nvSpPr>
          <p:cNvPr id="153" name="Google Shape;153;p16"/>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57" name="Shape 157"/>
        <p:cNvGrpSpPr/>
        <p:nvPr/>
      </p:nvGrpSpPr>
      <p:grpSpPr>
        <a:xfrm>
          <a:off x="0" y="0"/>
          <a:ext cx="0" cy="0"/>
          <a:chOff x="0" y="0"/>
          <a:chExt cx="0" cy="0"/>
        </a:xfrm>
      </p:grpSpPr>
      <p:pic>
        <p:nvPicPr>
          <p:cNvPr descr="image.png" id="158" name="Google Shape;15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9" name="Google Shape;159;p17"/>
          <p:cNvPicPr preferRelativeResize="0"/>
          <p:nvPr/>
        </p:nvPicPr>
        <p:blipFill rotWithShape="1">
          <a:blip r:embed="rId4">
            <a:alphaModFix/>
          </a:blip>
          <a:srcRect b="0" l="0" r="0" t="0"/>
          <a:stretch/>
        </p:blipFill>
        <p:spPr>
          <a:xfrm>
            <a:off x="571500" y="2029122"/>
            <a:ext cx="3429000" cy="3752254"/>
          </a:xfrm>
          <a:prstGeom prst="rect">
            <a:avLst/>
          </a:prstGeom>
          <a:noFill/>
          <a:ln>
            <a:noFill/>
          </a:ln>
        </p:spPr>
      </p:pic>
      <p:pic>
        <p:nvPicPr>
          <p:cNvPr descr="image.png" id="160" name="Google Shape;160;p17"/>
          <p:cNvPicPr preferRelativeResize="0"/>
          <p:nvPr/>
        </p:nvPicPr>
        <p:blipFill rotWithShape="1">
          <a:blip r:embed="rId5">
            <a:alphaModFix/>
          </a:blip>
          <a:srcRect b="0" l="0" r="0" t="0"/>
          <a:stretch/>
        </p:blipFill>
        <p:spPr>
          <a:xfrm>
            <a:off x="4381500" y="2029122"/>
            <a:ext cx="3429000" cy="3752254"/>
          </a:xfrm>
          <a:prstGeom prst="rect">
            <a:avLst/>
          </a:prstGeom>
          <a:noFill/>
          <a:ln>
            <a:noFill/>
          </a:ln>
        </p:spPr>
      </p:pic>
      <p:pic>
        <p:nvPicPr>
          <p:cNvPr descr="image.png" id="161" name="Google Shape;161;p17"/>
          <p:cNvPicPr preferRelativeResize="0"/>
          <p:nvPr/>
        </p:nvPicPr>
        <p:blipFill rotWithShape="1">
          <a:blip r:embed="rId6">
            <a:alphaModFix/>
          </a:blip>
          <a:srcRect b="0" l="0" r="0" t="0"/>
          <a:stretch/>
        </p:blipFill>
        <p:spPr>
          <a:xfrm>
            <a:off x="8191500" y="2029122"/>
            <a:ext cx="3429000" cy="3752254"/>
          </a:xfrm>
          <a:prstGeom prst="rect">
            <a:avLst/>
          </a:prstGeom>
          <a:noFill/>
          <a:ln>
            <a:noFill/>
          </a:ln>
        </p:spPr>
      </p:pic>
      <p:sp>
        <p:nvSpPr>
          <p:cNvPr id="162" name="Google Shape;162;p17"/>
          <p:cNvSpPr txBox="1"/>
          <p:nvPr/>
        </p:nvSpPr>
        <p:spPr>
          <a:xfrm>
            <a:off x="795813" y="3114972"/>
            <a:ext cx="2980372"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High Memory Footprint</a:t>
            </a:r>
            <a:endParaRPr/>
          </a:p>
        </p:txBody>
      </p:sp>
      <p:sp>
        <p:nvSpPr>
          <p:cNvPr id="163" name="Google Shape;163;p17"/>
          <p:cNvSpPr txBox="1"/>
          <p:nvPr/>
        </p:nvSpPr>
        <p:spPr>
          <a:xfrm>
            <a:off x="866775" y="4115097"/>
            <a:ext cx="2838450" cy="959643"/>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A model like LLAMA-70B requires more than 140 GB of memory in FP16 precision, far exceeding standard hardware capabilities.</a:t>
            </a:r>
            <a:endParaRPr/>
          </a:p>
        </p:txBody>
      </p:sp>
      <p:sp>
        <p:nvSpPr>
          <p:cNvPr id="164" name="Google Shape;164;p17"/>
          <p:cNvSpPr txBox="1"/>
          <p:nvPr/>
        </p:nvSpPr>
        <p:spPr>
          <a:xfrm>
            <a:off x="4605813" y="3114972"/>
            <a:ext cx="2980372"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Memory-Bound Inference</a:t>
            </a:r>
            <a:endParaRPr/>
          </a:p>
        </p:txBody>
      </p:sp>
      <p:sp>
        <p:nvSpPr>
          <p:cNvPr id="165" name="Google Shape;165;p17"/>
          <p:cNvSpPr txBox="1"/>
          <p:nvPr/>
        </p:nvSpPr>
        <p:spPr>
          <a:xfrm>
            <a:off x="4676775" y="4115097"/>
            <a:ext cx="2838450" cy="1199554"/>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Transformer inference is memory-bound. The repeated retrieval of large weight matrices from RAM creates a significant latency bottleneck.</a:t>
            </a:r>
            <a:endParaRPr/>
          </a:p>
        </p:txBody>
      </p:sp>
      <p:sp>
        <p:nvSpPr>
          <p:cNvPr id="166" name="Google Shape;166;p17"/>
          <p:cNvSpPr txBox="1"/>
          <p:nvPr/>
        </p:nvSpPr>
        <p:spPr>
          <a:xfrm>
            <a:off x="8415813" y="3114972"/>
            <a:ext cx="2980372"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Restricted Deployability</a:t>
            </a:r>
            <a:endParaRPr/>
          </a:p>
        </p:txBody>
      </p:sp>
      <p:sp>
        <p:nvSpPr>
          <p:cNvPr id="167" name="Google Shape;167;p17"/>
          <p:cNvSpPr txBox="1"/>
          <p:nvPr/>
        </p:nvSpPr>
        <p:spPr>
          <a:xfrm>
            <a:off x="8486775" y="4115097"/>
            <a:ext cx="2838450" cy="959643"/>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Running FP32 or FP16 LLMs on CPUs or mobile devices is largely infeasible, necessitating high-end GPUs with large VRAM.</a:t>
            </a:r>
            <a:endParaRPr/>
          </a:p>
        </p:txBody>
      </p:sp>
      <p:pic>
        <p:nvPicPr>
          <p:cNvPr descr="image.png" id="168" name="Google Shape;168;p17"/>
          <p:cNvPicPr preferRelativeResize="0"/>
          <p:nvPr/>
        </p:nvPicPr>
        <p:blipFill rotWithShape="1">
          <a:blip r:embed="rId7">
            <a:alphaModFix/>
          </a:blip>
          <a:srcRect b="0" l="0" r="0" t="0"/>
          <a:stretch/>
        </p:blipFill>
        <p:spPr>
          <a:xfrm>
            <a:off x="2028825" y="2381547"/>
            <a:ext cx="514350" cy="457200"/>
          </a:xfrm>
          <a:prstGeom prst="rect">
            <a:avLst/>
          </a:prstGeom>
          <a:noFill/>
          <a:ln>
            <a:noFill/>
          </a:ln>
        </p:spPr>
      </p:pic>
      <p:pic>
        <p:nvPicPr>
          <p:cNvPr descr="image.png" id="169" name="Google Shape;169;p17"/>
          <p:cNvPicPr preferRelativeResize="0"/>
          <p:nvPr/>
        </p:nvPicPr>
        <p:blipFill rotWithShape="1">
          <a:blip r:embed="rId8">
            <a:alphaModFix/>
          </a:blip>
          <a:srcRect b="0" l="0" r="0" t="0"/>
          <a:stretch/>
        </p:blipFill>
        <p:spPr>
          <a:xfrm>
            <a:off x="5867400" y="2381547"/>
            <a:ext cx="457200" cy="457200"/>
          </a:xfrm>
          <a:prstGeom prst="rect">
            <a:avLst/>
          </a:prstGeom>
          <a:noFill/>
          <a:ln>
            <a:noFill/>
          </a:ln>
        </p:spPr>
      </p:pic>
      <p:pic>
        <p:nvPicPr>
          <p:cNvPr descr="image.png" id="170" name="Google Shape;170;p17"/>
          <p:cNvPicPr preferRelativeResize="0"/>
          <p:nvPr/>
        </p:nvPicPr>
        <p:blipFill rotWithShape="1">
          <a:blip r:embed="rId9">
            <a:alphaModFix/>
          </a:blip>
          <a:srcRect b="0" l="0" r="0" t="0"/>
          <a:stretch/>
        </p:blipFill>
        <p:spPr>
          <a:xfrm>
            <a:off x="9734550" y="2381547"/>
            <a:ext cx="342900" cy="457200"/>
          </a:xfrm>
          <a:prstGeom prst="rect">
            <a:avLst/>
          </a:prstGeom>
          <a:noFill/>
          <a:ln>
            <a:noFill/>
          </a:ln>
        </p:spPr>
      </p:pic>
      <p:sp>
        <p:nvSpPr>
          <p:cNvPr id="171" name="Google Shape;171;p17"/>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Problem Statement: Core Limitations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75" name="Shape 175"/>
        <p:cNvGrpSpPr/>
        <p:nvPr/>
      </p:nvGrpSpPr>
      <p:grpSpPr>
        <a:xfrm>
          <a:off x="0" y="0"/>
          <a:ext cx="0" cy="0"/>
          <a:chOff x="0" y="0"/>
          <a:chExt cx="0" cy="0"/>
        </a:xfrm>
      </p:grpSpPr>
      <p:pic>
        <p:nvPicPr>
          <p:cNvPr descr="image.png" id="176" name="Google Shape;176;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7" name="Google Shape;177;p18"/>
          <p:cNvSpPr txBox="1"/>
          <p:nvPr/>
        </p:nvSpPr>
        <p:spPr>
          <a:xfrm>
            <a:off x="1381125" y="2428875"/>
            <a:ext cx="9858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Understand Quantization:</a:t>
            </a:r>
            <a:r>
              <a:rPr b="0" i="0" lang="en-US" sz="1500" u="none" cap="none" strike="noStrike">
                <a:solidFill>
                  <a:srgbClr val="333333"/>
                </a:solidFill>
                <a:latin typeface="DM Sans"/>
                <a:ea typeface="DM Sans"/>
                <a:cs typeface="DM Sans"/>
                <a:sym typeface="DM Sans"/>
              </a:rPr>
              <a:t> Develop a clear understanding of quantization and its importance for efficient LLM deployment.</a:t>
            </a:r>
            <a:endParaRPr/>
          </a:p>
        </p:txBody>
      </p:sp>
      <p:sp>
        <p:nvSpPr>
          <p:cNvPr id="178" name="Google Shape;178;p18"/>
          <p:cNvSpPr txBox="1"/>
          <p:nvPr/>
        </p:nvSpPr>
        <p:spPr>
          <a:xfrm>
            <a:off x="1381125" y="3190875"/>
            <a:ext cx="9858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Analyze Methods:</a:t>
            </a:r>
            <a:r>
              <a:rPr b="0" i="0" lang="en-US" sz="1500" u="none" cap="none" strike="noStrike">
                <a:solidFill>
                  <a:srgbClr val="333333"/>
                </a:solidFill>
                <a:latin typeface="DM Sans"/>
                <a:ea typeface="DM Sans"/>
                <a:cs typeface="DM Sans"/>
                <a:sym typeface="DM Sans"/>
              </a:rPr>
              <a:t> Examine the theoretical basis of INT8, INT4, and blockwise methods used in modern LLMs.</a:t>
            </a:r>
            <a:endParaRPr/>
          </a:p>
        </p:txBody>
      </p:sp>
      <p:sp>
        <p:nvSpPr>
          <p:cNvPr id="179" name="Google Shape;179;p18"/>
          <p:cNvSpPr txBox="1"/>
          <p:nvPr/>
        </p:nvSpPr>
        <p:spPr>
          <a:xfrm>
            <a:off x="1381125" y="3667125"/>
            <a:ext cx="9858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Study GGUF Format:</a:t>
            </a:r>
            <a:r>
              <a:rPr b="0" i="0" lang="en-US" sz="1500" u="none" cap="none" strike="noStrike">
                <a:solidFill>
                  <a:srgbClr val="333333"/>
                </a:solidFill>
                <a:latin typeface="DM Sans"/>
                <a:ea typeface="DM Sans"/>
                <a:cs typeface="DM Sans"/>
                <a:sym typeface="DM Sans"/>
              </a:rPr>
              <a:t> Study the GGUF model format designed for optimized inference.</a:t>
            </a:r>
            <a:endParaRPr/>
          </a:p>
        </p:txBody>
      </p:sp>
      <p:sp>
        <p:nvSpPr>
          <p:cNvPr id="180" name="Google Shape;180;p18"/>
          <p:cNvSpPr txBox="1"/>
          <p:nvPr/>
        </p:nvSpPr>
        <p:spPr>
          <a:xfrm>
            <a:off x="1381125" y="4143375"/>
            <a:ext cx="9858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Explore Multimodal Models:</a:t>
            </a:r>
            <a:r>
              <a:rPr b="0" i="0" lang="en-US" sz="1500" u="none" cap="none" strike="noStrike">
                <a:solidFill>
                  <a:srgbClr val="333333"/>
                </a:solidFill>
                <a:latin typeface="DM Sans"/>
                <a:ea typeface="DM Sans"/>
                <a:cs typeface="DM Sans"/>
                <a:sym typeface="DM Sans"/>
              </a:rPr>
              <a:t> Explore the architecture of multimodal image-text to text models.</a:t>
            </a:r>
            <a:endParaRPr/>
          </a:p>
        </p:txBody>
      </p:sp>
      <p:sp>
        <p:nvSpPr>
          <p:cNvPr id="181" name="Google Shape;181;p18"/>
          <p:cNvSpPr txBox="1"/>
          <p:nvPr/>
        </p:nvSpPr>
        <p:spPr>
          <a:xfrm>
            <a:off x="1381125" y="4619625"/>
            <a:ext cx="9858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Evaluate Performance:</a:t>
            </a:r>
            <a:r>
              <a:rPr b="0" i="0" lang="en-US" sz="1500" u="none" cap="none" strike="noStrike">
                <a:solidFill>
                  <a:srgbClr val="333333"/>
                </a:solidFill>
                <a:latin typeface="DM Sans"/>
                <a:ea typeface="DM Sans"/>
                <a:cs typeface="DM Sans"/>
                <a:sym typeface="DM Sans"/>
              </a:rPr>
              <a:t> Evaluate performance using standard metrics (BLEU, METEOR, ROUGE) on the COCO benchmark.</a:t>
            </a:r>
            <a:endParaRPr/>
          </a:p>
        </p:txBody>
      </p:sp>
      <p:pic>
        <p:nvPicPr>
          <p:cNvPr descr="image.png" id="182" name="Google Shape;182;p18"/>
          <p:cNvPicPr preferRelativeResize="0"/>
          <p:nvPr/>
        </p:nvPicPr>
        <p:blipFill rotWithShape="1">
          <a:blip r:embed="rId4">
            <a:alphaModFix/>
          </a:blip>
          <a:srcRect b="0" l="0" r="0" t="0"/>
          <a:stretch/>
        </p:blipFill>
        <p:spPr>
          <a:xfrm>
            <a:off x="952500" y="2476500"/>
            <a:ext cx="285750" cy="228600"/>
          </a:xfrm>
          <a:prstGeom prst="rect">
            <a:avLst/>
          </a:prstGeom>
          <a:noFill/>
          <a:ln>
            <a:noFill/>
          </a:ln>
        </p:spPr>
      </p:pic>
      <p:pic>
        <p:nvPicPr>
          <p:cNvPr descr="image.png" id="183" name="Google Shape;183;p18"/>
          <p:cNvPicPr preferRelativeResize="0"/>
          <p:nvPr/>
        </p:nvPicPr>
        <p:blipFill rotWithShape="1">
          <a:blip r:embed="rId5">
            <a:alphaModFix/>
          </a:blip>
          <a:srcRect b="0" l="0" r="0" t="0"/>
          <a:stretch/>
        </p:blipFill>
        <p:spPr>
          <a:xfrm>
            <a:off x="952500" y="3238500"/>
            <a:ext cx="285750" cy="228600"/>
          </a:xfrm>
          <a:prstGeom prst="rect">
            <a:avLst/>
          </a:prstGeom>
          <a:noFill/>
          <a:ln>
            <a:noFill/>
          </a:ln>
        </p:spPr>
      </p:pic>
      <p:pic>
        <p:nvPicPr>
          <p:cNvPr descr="image.png" id="184" name="Google Shape;184;p18"/>
          <p:cNvPicPr preferRelativeResize="0"/>
          <p:nvPr/>
        </p:nvPicPr>
        <p:blipFill rotWithShape="1">
          <a:blip r:embed="rId6">
            <a:alphaModFix/>
          </a:blip>
          <a:srcRect b="0" l="0" r="0" t="0"/>
          <a:stretch/>
        </p:blipFill>
        <p:spPr>
          <a:xfrm>
            <a:off x="952500" y="3714750"/>
            <a:ext cx="285750" cy="228600"/>
          </a:xfrm>
          <a:prstGeom prst="rect">
            <a:avLst/>
          </a:prstGeom>
          <a:noFill/>
          <a:ln>
            <a:noFill/>
          </a:ln>
        </p:spPr>
      </p:pic>
      <p:pic>
        <p:nvPicPr>
          <p:cNvPr descr="image.png" id="185" name="Google Shape;185;p18"/>
          <p:cNvPicPr preferRelativeResize="0"/>
          <p:nvPr/>
        </p:nvPicPr>
        <p:blipFill rotWithShape="1">
          <a:blip r:embed="rId7">
            <a:alphaModFix/>
          </a:blip>
          <a:srcRect b="0" l="0" r="0" t="0"/>
          <a:stretch/>
        </p:blipFill>
        <p:spPr>
          <a:xfrm>
            <a:off x="952500" y="4191000"/>
            <a:ext cx="285750" cy="228600"/>
          </a:xfrm>
          <a:prstGeom prst="rect">
            <a:avLst/>
          </a:prstGeom>
          <a:noFill/>
          <a:ln>
            <a:noFill/>
          </a:ln>
        </p:spPr>
      </p:pic>
      <p:pic>
        <p:nvPicPr>
          <p:cNvPr descr="image.png" id="186" name="Google Shape;186;p18"/>
          <p:cNvPicPr preferRelativeResize="0"/>
          <p:nvPr/>
        </p:nvPicPr>
        <p:blipFill rotWithShape="1">
          <a:blip r:embed="rId8">
            <a:alphaModFix/>
          </a:blip>
          <a:srcRect b="0" l="0" r="0" t="0"/>
          <a:stretch/>
        </p:blipFill>
        <p:spPr>
          <a:xfrm>
            <a:off x="952500" y="4667250"/>
            <a:ext cx="285750" cy="228600"/>
          </a:xfrm>
          <a:prstGeom prst="rect">
            <a:avLst/>
          </a:prstGeom>
          <a:noFill/>
          <a:ln>
            <a:noFill/>
          </a:ln>
        </p:spPr>
      </p:pic>
      <p:sp>
        <p:nvSpPr>
          <p:cNvPr id="187" name="Google Shape;187;p18"/>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Project Objectives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91" name="Shape 191"/>
        <p:cNvGrpSpPr/>
        <p:nvPr/>
      </p:nvGrpSpPr>
      <p:grpSpPr>
        <a:xfrm>
          <a:off x="0" y="0"/>
          <a:ext cx="0" cy="0"/>
          <a:chOff x="0" y="0"/>
          <a:chExt cx="0" cy="0"/>
        </a:xfrm>
      </p:grpSpPr>
      <p:pic>
        <p:nvPicPr>
          <p:cNvPr descr="image.png" id="192" name="Google Shape;192;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3" name="Google Shape;193;p19"/>
          <p:cNvPicPr preferRelativeResize="0"/>
          <p:nvPr/>
        </p:nvPicPr>
        <p:blipFill rotWithShape="1">
          <a:blip r:embed="rId4">
            <a:alphaModFix/>
          </a:blip>
          <a:srcRect b="0" l="0" r="0" t="0"/>
          <a:stretch/>
        </p:blipFill>
        <p:spPr>
          <a:xfrm>
            <a:off x="571500" y="3662362"/>
            <a:ext cx="2547937" cy="1819275"/>
          </a:xfrm>
          <a:prstGeom prst="rect">
            <a:avLst/>
          </a:prstGeom>
          <a:noFill/>
          <a:ln>
            <a:noFill/>
          </a:ln>
        </p:spPr>
      </p:pic>
      <p:pic>
        <p:nvPicPr>
          <p:cNvPr descr="image.png" id="194" name="Google Shape;194;p19"/>
          <p:cNvPicPr preferRelativeResize="0"/>
          <p:nvPr/>
        </p:nvPicPr>
        <p:blipFill rotWithShape="1">
          <a:blip r:embed="rId5">
            <a:alphaModFix/>
          </a:blip>
          <a:srcRect b="0" l="0" r="0" t="0"/>
          <a:stretch/>
        </p:blipFill>
        <p:spPr>
          <a:xfrm>
            <a:off x="3405187" y="3662362"/>
            <a:ext cx="2547937" cy="1819275"/>
          </a:xfrm>
          <a:prstGeom prst="rect">
            <a:avLst/>
          </a:prstGeom>
          <a:noFill/>
          <a:ln>
            <a:noFill/>
          </a:ln>
        </p:spPr>
      </p:pic>
      <p:pic>
        <p:nvPicPr>
          <p:cNvPr descr="image.png" id="195" name="Google Shape;195;p19"/>
          <p:cNvPicPr preferRelativeResize="0"/>
          <p:nvPr/>
        </p:nvPicPr>
        <p:blipFill rotWithShape="1">
          <a:blip r:embed="rId6">
            <a:alphaModFix/>
          </a:blip>
          <a:srcRect b="0" l="0" r="0" t="0"/>
          <a:stretch/>
        </p:blipFill>
        <p:spPr>
          <a:xfrm>
            <a:off x="6238875" y="3662362"/>
            <a:ext cx="2547937" cy="1819275"/>
          </a:xfrm>
          <a:prstGeom prst="rect">
            <a:avLst/>
          </a:prstGeom>
          <a:noFill/>
          <a:ln>
            <a:noFill/>
          </a:ln>
        </p:spPr>
      </p:pic>
      <p:pic>
        <p:nvPicPr>
          <p:cNvPr descr="image.png" id="196" name="Google Shape;196;p19"/>
          <p:cNvPicPr preferRelativeResize="0"/>
          <p:nvPr/>
        </p:nvPicPr>
        <p:blipFill rotWithShape="1">
          <a:blip r:embed="rId7">
            <a:alphaModFix/>
          </a:blip>
          <a:srcRect b="0" l="0" r="0" t="0"/>
          <a:stretch/>
        </p:blipFill>
        <p:spPr>
          <a:xfrm>
            <a:off x="9072562" y="3662362"/>
            <a:ext cx="2547937" cy="1819275"/>
          </a:xfrm>
          <a:prstGeom prst="rect">
            <a:avLst/>
          </a:prstGeom>
          <a:noFill/>
          <a:ln>
            <a:noFill/>
          </a:ln>
        </p:spPr>
      </p:pic>
      <p:sp>
        <p:nvSpPr>
          <p:cNvPr id="197" name="Google Shape;197;p19"/>
          <p:cNvSpPr txBox="1"/>
          <p:nvPr/>
        </p:nvSpPr>
        <p:spPr>
          <a:xfrm>
            <a:off x="571500" y="2519362"/>
            <a:ext cx="110490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Definition:</a:t>
            </a:r>
            <a:r>
              <a:rPr b="0" i="0" lang="en-US" sz="1500" u="none" cap="none" strike="noStrike">
                <a:solidFill>
                  <a:srgbClr val="333333"/>
                </a:solidFill>
                <a:latin typeface="DM Sans"/>
                <a:ea typeface="DM Sans"/>
                <a:cs typeface="DM Sans"/>
                <a:sym typeface="DM Sans"/>
              </a:rPr>
              <a:t> Quantization is the process of mapping continuous floating-point values to a reduced set of discrete integer levels. It is applied to model weights and activations to reduce storage and improve computation efficiency. A model with </a:t>
            </a:r>
            <a:r>
              <a:rPr b="1" i="0" lang="en-US" sz="1500" u="none" cap="none" strike="noStrike">
                <a:solidFill>
                  <a:srgbClr val="333333"/>
                </a:solidFill>
                <a:latin typeface="DM Sans"/>
                <a:ea typeface="DM Sans"/>
                <a:cs typeface="DM Sans"/>
                <a:sym typeface="DM Sans"/>
              </a:rPr>
              <a:t>N</a:t>
            </a:r>
            <a:r>
              <a:rPr b="0" i="0" lang="en-US" sz="1500" u="none" cap="none" strike="noStrike">
                <a:solidFill>
                  <a:srgbClr val="333333"/>
                </a:solidFill>
                <a:latin typeface="DM Sans"/>
                <a:ea typeface="DM Sans"/>
                <a:cs typeface="DM Sans"/>
                <a:sym typeface="DM Sans"/>
              </a:rPr>
              <a:t> parameters requires:</a:t>
            </a:r>
            <a:endParaRPr/>
          </a:p>
        </p:txBody>
      </p:sp>
      <p:sp>
        <p:nvSpPr>
          <p:cNvPr id="198" name="Google Shape;198;p19"/>
          <p:cNvSpPr txBox="1"/>
          <p:nvPr/>
        </p:nvSpPr>
        <p:spPr>
          <a:xfrm>
            <a:off x="866775" y="3957637"/>
            <a:ext cx="19575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005088"/>
                </a:solidFill>
                <a:latin typeface="Merriweather"/>
                <a:ea typeface="Merriweather"/>
                <a:cs typeface="Merriweather"/>
                <a:sym typeface="Merriweather"/>
              </a:rPr>
              <a:t>4N</a:t>
            </a:r>
            <a:endParaRPr sz="6000"/>
          </a:p>
        </p:txBody>
      </p:sp>
      <p:sp>
        <p:nvSpPr>
          <p:cNvPr id="199" name="Google Shape;199;p19"/>
          <p:cNvSpPr txBox="1"/>
          <p:nvPr/>
        </p:nvSpPr>
        <p:spPr>
          <a:xfrm>
            <a:off x="866775" y="4910137"/>
            <a:ext cx="1957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3333"/>
                </a:solidFill>
                <a:latin typeface="DM Sans"/>
                <a:ea typeface="DM Sans"/>
                <a:cs typeface="DM Sans"/>
                <a:sym typeface="DM Sans"/>
              </a:rPr>
              <a:t>FP32 (Bytes)</a:t>
            </a:r>
            <a:endParaRPr/>
          </a:p>
        </p:txBody>
      </p:sp>
      <p:sp>
        <p:nvSpPr>
          <p:cNvPr id="200" name="Google Shape;200;p19"/>
          <p:cNvSpPr txBox="1"/>
          <p:nvPr/>
        </p:nvSpPr>
        <p:spPr>
          <a:xfrm>
            <a:off x="3700462" y="3957637"/>
            <a:ext cx="19575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005088"/>
                </a:solidFill>
                <a:latin typeface="Merriweather"/>
                <a:ea typeface="Merriweather"/>
                <a:cs typeface="Merriweather"/>
                <a:sym typeface="Merriweather"/>
              </a:rPr>
              <a:t>2N</a:t>
            </a:r>
            <a:endParaRPr sz="6000"/>
          </a:p>
        </p:txBody>
      </p:sp>
      <p:sp>
        <p:nvSpPr>
          <p:cNvPr id="201" name="Google Shape;201;p19"/>
          <p:cNvSpPr txBox="1"/>
          <p:nvPr/>
        </p:nvSpPr>
        <p:spPr>
          <a:xfrm>
            <a:off x="3700462" y="4910137"/>
            <a:ext cx="1957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3333"/>
                </a:solidFill>
                <a:latin typeface="DM Sans"/>
                <a:ea typeface="DM Sans"/>
                <a:cs typeface="DM Sans"/>
                <a:sym typeface="DM Sans"/>
              </a:rPr>
              <a:t>FP16 / BF16</a:t>
            </a:r>
            <a:endParaRPr/>
          </a:p>
        </p:txBody>
      </p:sp>
      <p:sp>
        <p:nvSpPr>
          <p:cNvPr id="202" name="Google Shape;202;p19"/>
          <p:cNvSpPr txBox="1"/>
          <p:nvPr/>
        </p:nvSpPr>
        <p:spPr>
          <a:xfrm>
            <a:off x="6534150" y="3957637"/>
            <a:ext cx="19575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005088"/>
                </a:solidFill>
                <a:latin typeface="Merriweather"/>
                <a:ea typeface="Merriweather"/>
                <a:cs typeface="Merriweather"/>
                <a:sym typeface="Merriweather"/>
              </a:rPr>
              <a:t>N</a:t>
            </a:r>
            <a:endParaRPr sz="6000"/>
          </a:p>
        </p:txBody>
      </p:sp>
      <p:sp>
        <p:nvSpPr>
          <p:cNvPr id="203" name="Google Shape;203;p19"/>
          <p:cNvSpPr txBox="1"/>
          <p:nvPr/>
        </p:nvSpPr>
        <p:spPr>
          <a:xfrm>
            <a:off x="6534150" y="4910137"/>
            <a:ext cx="1957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3333"/>
                </a:solidFill>
                <a:latin typeface="DM Sans"/>
                <a:ea typeface="DM Sans"/>
                <a:cs typeface="DM Sans"/>
                <a:sym typeface="DM Sans"/>
              </a:rPr>
              <a:t>INT8 (Bytes)</a:t>
            </a:r>
            <a:endParaRPr/>
          </a:p>
        </p:txBody>
      </p:sp>
      <p:sp>
        <p:nvSpPr>
          <p:cNvPr id="204" name="Google Shape;204;p19"/>
          <p:cNvSpPr txBox="1"/>
          <p:nvPr/>
        </p:nvSpPr>
        <p:spPr>
          <a:xfrm>
            <a:off x="9367737" y="3990712"/>
            <a:ext cx="1957500" cy="9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005088"/>
                </a:solidFill>
                <a:latin typeface="Merriweather"/>
                <a:ea typeface="Merriweather"/>
                <a:cs typeface="Merriweather"/>
                <a:sym typeface="Merriweather"/>
              </a:rPr>
              <a:t>0.5N</a:t>
            </a:r>
            <a:endParaRPr sz="6000"/>
          </a:p>
        </p:txBody>
      </p:sp>
      <p:sp>
        <p:nvSpPr>
          <p:cNvPr id="205" name="Google Shape;205;p19"/>
          <p:cNvSpPr txBox="1"/>
          <p:nvPr/>
        </p:nvSpPr>
        <p:spPr>
          <a:xfrm>
            <a:off x="9367837" y="4910137"/>
            <a:ext cx="1957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333333"/>
                </a:solidFill>
                <a:latin typeface="DM Sans"/>
                <a:ea typeface="DM Sans"/>
                <a:cs typeface="DM Sans"/>
                <a:sym typeface="DM Sans"/>
              </a:rPr>
              <a:t>INT4 (Bytes)</a:t>
            </a:r>
            <a:endParaRPr/>
          </a:p>
        </p:txBody>
      </p:sp>
      <p:sp>
        <p:nvSpPr>
          <p:cNvPr id="206" name="Google Shape;206;p19"/>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Background: Quantization Concepts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10" name="Shape 210"/>
        <p:cNvGrpSpPr/>
        <p:nvPr/>
      </p:nvGrpSpPr>
      <p:grpSpPr>
        <a:xfrm>
          <a:off x="0" y="0"/>
          <a:ext cx="0" cy="0"/>
          <a:chOff x="0" y="0"/>
          <a:chExt cx="0" cy="0"/>
        </a:xfrm>
      </p:grpSpPr>
      <p:pic>
        <p:nvPicPr>
          <p:cNvPr descr="image.png" id="211" name="Google Shape;21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2" name="Google Shape;212;p20"/>
          <p:cNvPicPr preferRelativeResize="0"/>
          <p:nvPr/>
        </p:nvPicPr>
        <p:blipFill rotWithShape="1">
          <a:blip r:embed="rId4">
            <a:alphaModFix/>
          </a:blip>
          <a:srcRect b="0" l="0" r="0" t="0"/>
          <a:stretch/>
        </p:blipFill>
        <p:spPr>
          <a:xfrm>
            <a:off x="571500" y="2200572"/>
            <a:ext cx="3429000" cy="3409354"/>
          </a:xfrm>
          <a:prstGeom prst="rect">
            <a:avLst/>
          </a:prstGeom>
          <a:noFill/>
          <a:ln>
            <a:noFill/>
          </a:ln>
        </p:spPr>
      </p:pic>
      <p:pic>
        <p:nvPicPr>
          <p:cNvPr descr="image.png" id="213" name="Google Shape;213;p20"/>
          <p:cNvPicPr preferRelativeResize="0"/>
          <p:nvPr/>
        </p:nvPicPr>
        <p:blipFill rotWithShape="1">
          <a:blip r:embed="rId5">
            <a:alphaModFix/>
          </a:blip>
          <a:srcRect b="0" l="0" r="0" t="0"/>
          <a:stretch/>
        </p:blipFill>
        <p:spPr>
          <a:xfrm>
            <a:off x="4381500" y="2200572"/>
            <a:ext cx="3429000" cy="3409354"/>
          </a:xfrm>
          <a:prstGeom prst="rect">
            <a:avLst/>
          </a:prstGeom>
          <a:noFill/>
          <a:ln>
            <a:noFill/>
          </a:ln>
        </p:spPr>
      </p:pic>
      <p:pic>
        <p:nvPicPr>
          <p:cNvPr descr="image.png" id="214" name="Google Shape;214;p20"/>
          <p:cNvPicPr preferRelativeResize="0"/>
          <p:nvPr/>
        </p:nvPicPr>
        <p:blipFill rotWithShape="1">
          <a:blip r:embed="rId6">
            <a:alphaModFix/>
          </a:blip>
          <a:srcRect b="0" l="0" r="0" t="0"/>
          <a:stretch/>
        </p:blipFill>
        <p:spPr>
          <a:xfrm>
            <a:off x="8191500" y="2200572"/>
            <a:ext cx="3429000" cy="3409354"/>
          </a:xfrm>
          <a:prstGeom prst="rect">
            <a:avLst/>
          </a:prstGeom>
          <a:noFill/>
          <a:ln>
            <a:noFill/>
          </a:ln>
        </p:spPr>
      </p:pic>
      <p:sp>
        <p:nvSpPr>
          <p:cNvPr id="215" name="Google Shape;215;p20"/>
          <p:cNvSpPr txBox="1"/>
          <p:nvPr/>
        </p:nvSpPr>
        <p:spPr>
          <a:xfrm>
            <a:off x="855821" y="3286422"/>
            <a:ext cx="286035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Post-Training (PTQ)</a:t>
            </a:r>
            <a:endParaRPr/>
          </a:p>
        </p:txBody>
      </p:sp>
      <p:sp>
        <p:nvSpPr>
          <p:cNvPr id="216" name="Google Shape;216;p20"/>
          <p:cNvSpPr txBox="1"/>
          <p:nvPr/>
        </p:nvSpPr>
        <p:spPr>
          <a:xfrm>
            <a:off x="866775" y="3943647"/>
            <a:ext cx="2838450" cy="1199554"/>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Weights are quantized after training. Simple and efficient. Includes *Dynamic* (activations quantized at runtime) and *Static* (uses calibration data) methods.</a:t>
            </a:r>
            <a:endParaRPr/>
          </a:p>
        </p:txBody>
      </p:sp>
      <p:sp>
        <p:nvSpPr>
          <p:cNvPr id="217" name="Google Shape;217;p20"/>
          <p:cNvSpPr txBox="1"/>
          <p:nvPr/>
        </p:nvSpPr>
        <p:spPr>
          <a:xfrm>
            <a:off x="4715827" y="3286422"/>
            <a:ext cx="2760345"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Blockwise (LLAMA)</a:t>
            </a:r>
            <a:endParaRPr/>
          </a:p>
        </p:txBody>
      </p:sp>
      <p:sp>
        <p:nvSpPr>
          <p:cNvPr id="218" name="Google Shape;218;p20"/>
          <p:cNvSpPr txBox="1"/>
          <p:nvPr/>
        </p:nvSpPr>
        <p:spPr>
          <a:xfrm>
            <a:off x="4676775" y="3943647"/>
            <a:ext cx="2838450" cy="1199554"/>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A fine-grained approach. Weights are split into blocks (32/64 elements), each gets its own scale value, then values are quantized. Reduces error.</a:t>
            </a:r>
            <a:endParaRPr/>
          </a:p>
        </p:txBody>
      </p:sp>
      <p:sp>
        <p:nvSpPr>
          <p:cNvPr id="219" name="Google Shape;219;p20"/>
          <p:cNvSpPr txBox="1"/>
          <p:nvPr/>
        </p:nvSpPr>
        <p:spPr>
          <a:xfrm>
            <a:off x="8960881" y="3286422"/>
            <a:ext cx="1890236"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GGUF Format</a:t>
            </a:r>
            <a:endParaRPr/>
          </a:p>
        </p:txBody>
      </p:sp>
      <p:sp>
        <p:nvSpPr>
          <p:cNvPr id="220" name="Google Shape;220;p20"/>
          <p:cNvSpPr txBox="1"/>
          <p:nvPr/>
        </p:nvSpPr>
        <p:spPr>
          <a:xfrm>
            <a:off x="8486775" y="3943647"/>
            <a:ext cx="2838450" cy="1199554"/>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Used by llama.cpp. Stores tokenizer, hyperparameters, quantized weights, and per-block scales. Loads quickly and runs efficiently on CPUs.</a:t>
            </a:r>
            <a:endParaRPr/>
          </a:p>
        </p:txBody>
      </p:sp>
      <p:pic>
        <p:nvPicPr>
          <p:cNvPr descr="image.png" id="221" name="Google Shape;221;p20"/>
          <p:cNvPicPr preferRelativeResize="0"/>
          <p:nvPr/>
        </p:nvPicPr>
        <p:blipFill rotWithShape="1">
          <a:blip r:embed="rId7">
            <a:alphaModFix/>
          </a:blip>
          <a:srcRect b="0" l="0" r="0" t="0"/>
          <a:stretch/>
        </p:blipFill>
        <p:spPr>
          <a:xfrm>
            <a:off x="2057400" y="2552997"/>
            <a:ext cx="457200" cy="457200"/>
          </a:xfrm>
          <a:prstGeom prst="rect">
            <a:avLst/>
          </a:prstGeom>
          <a:noFill/>
          <a:ln>
            <a:noFill/>
          </a:ln>
        </p:spPr>
      </p:pic>
      <p:pic>
        <p:nvPicPr>
          <p:cNvPr descr="image.png" id="222" name="Google Shape;222;p20"/>
          <p:cNvPicPr preferRelativeResize="0"/>
          <p:nvPr/>
        </p:nvPicPr>
        <p:blipFill rotWithShape="1">
          <a:blip r:embed="rId8">
            <a:alphaModFix/>
          </a:blip>
          <a:srcRect b="0" l="0" r="0" t="0"/>
          <a:stretch/>
        </p:blipFill>
        <p:spPr>
          <a:xfrm>
            <a:off x="5838825" y="2552997"/>
            <a:ext cx="514350" cy="457200"/>
          </a:xfrm>
          <a:prstGeom prst="rect">
            <a:avLst/>
          </a:prstGeom>
          <a:noFill/>
          <a:ln>
            <a:noFill/>
          </a:ln>
        </p:spPr>
      </p:pic>
      <p:pic>
        <p:nvPicPr>
          <p:cNvPr descr="image.png" id="223" name="Google Shape;223;p20"/>
          <p:cNvPicPr preferRelativeResize="0"/>
          <p:nvPr/>
        </p:nvPicPr>
        <p:blipFill rotWithShape="1">
          <a:blip r:embed="rId9">
            <a:alphaModFix/>
          </a:blip>
          <a:srcRect b="0" l="0" r="0" t="0"/>
          <a:stretch/>
        </p:blipFill>
        <p:spPr>
          <a:xfrm>
            <a:off x="9734550" y="2552997"/>
            <a:ext cx="342900" cy="457200"/>
          </a:xfrm>
          <a:prstGeom prst="rect">
            <a:avLst/>
          </a:prstGeom>
          <a:noFill/>
          <a:ln>
            <a:noFill/>
          </a:ln>
        </p:spPr>
      </p:pic>
      <p:sp>
        <p:nvSpPr>
          <p:cNvPr id="224" name="Google Shape;224;p20"/>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Quantization Techniques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28" name="Shape 228"/>
        <p:cNvGrpSpPr/>
        <p:nvPr/>
      </p:nvGrpSpPr>
      <p:grpSpPr>
        <a:xfrm>
          <a:off x="0" y="0"/>
          <a:ext cx="0" cy="0"/>
          <a:chOff x="0" y="0"/>
          <a:chExt cx="0" cy="0"/>
        </a:xfrm>
      </p:grpSpPr>
      <p:pic>
        <p:nvPicPr>
          <p:cNvPr descr="image.png" id="229" name="Google Shape;229;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0" name="Google Shape;230;p21"/>
          <p:cNvSpPr txBox="1"/>
          <p:nvPr/>
        </p:nvSpPr>
        <p:spPr>
          <a:xfrm>
            <a:off x="571500" y="17621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Definition</a:t>
            </a:r>
            <a:endParaRPr/>
          </a:p>
        </p:txBody>
      </p:sp>
      <p:sp>
        <p:nvSpPr>
          <p:cNvPr id="231" name="Google Shape;231;p21"/>
          <p:cNvSpPr txBox="1"/>
          <p:nvPr/>
        </p:nvSpPr>
        <p:spPr>
          <a:xfrm>
            <a:off x="571500" y="2295525"/>
            <a:ext cx="5286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Multimodal models integrate information from both images and text to generate coherent textual responses.</a:t>
            </a:r>
            <a:endParaRPr/>
          </a:p>
        </p:txBody>
      </p:sp>
      <p:sp>
        <p:nvSpPr>
          <p:cNvPr id="232" name="Google Shape;232;p21"/>
          <p:cNvSpPr txBox="1"/>
          <p:nvPr/>
        </p:nvSpPr>
        <p:spPr>
          <a:xfrm>
            <a:off x="571500" y="30575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Components:</a:t>
            </a:r>
            <a:endParaRPr/>
          </a:p>
        </p:txBody>
      </p:sp>
      <p:sp>
        <p:nvSpPr>
          <p:cNvPr id="233" name="Google Shape;233;p21"/>
          <p:cNvSpPr txBox="1"/>
          <p:nvPr/>
        </p:nvSpPr>
        <p:spPr>
          <a:xfrm>
            <a:off x="714375" y="3543300"/>
            <a:ext cx="952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1.</a:t>
            </a:r>
            <a:endParaRPr/>
          </a:p>
        </p:txBody>
      </p:sp>
      <p:sp>
        <p:nvSpPr>
          <p:cNvPr id="234" name="Google Shape;234;p21"/>
          <p:cNvSpPr txBox="1"/>
          <p:nvPr/>
        </p:nvSpPr>
        <p:spPr>
          <a:xfrm>
            <a:off x="809625" y="3543300"/>
            <a:ext cx="5048250" cy="57150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Vision Encoder (e.g., CLIP):</a:t>
            </a:r>
            <a:r>
              <a:rPr b="0" i="0" lang="en-US" sz="1500" u="none" cap="none" strike="noStrike">
                <a:solidFill>
                  <a:srgbClr val="333333"/>
                </a:solidFill>
                <a:latin typeface="DM Sans"/>
                <a:ea typeface="DM Sans"/>
                <a:cs typeface="DM Sans"/>
                <a:sym typeface="DM Sans"/>
              </a:rPr>
              <a:t> Extracts features from the image.</a:t>
            </a:r>
            <a:endParaRPr/>
          </a:p>
        </p:txBody>
      </p:sp>
      <p:sp>
        <p:nvSpPr>
          <p:cNvPr id="235" name="Google Shape;235;p21"/>
          <p:cNvSpPr txBox="1"/>
          <p:nvPr/>
        </p:nvSpPr>
        <p:spPr>
          <a:xfrm>
            <a:off x="657225" y="4257675"/>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2.</a:t>
            </a:r>
            <a:endParaRPr/>
          </a:p>
        </p:txBody>
      </p:sp>
      <p:sp>
        <p:nvSpPr>
          <p:cNvPr id="236" name="Google Shape;236;p21"/>
          <p:cNvSpPr txBox="1"/>
          <p:nvPr/>
        </p:nvSpPr>
        <p:spPr>
          <a:xfrm>
            <a:off x="809625" y="4257675"/>
            <a:ext cx="5048250" cy="57150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Fusion Mechanism:</a:t>
            </a:r>
            <a:r>
              <a:rPr b="0" i="0" lang="en-US" sz="1500" u="none" cap="none" strike="noStrike">
                <a:solidFill>
                  <a:srgbClr val="333333"/>
                </a:solidFill>
                <a:latin typeface="DM Sans"/>
                <a:ea typeface="DM Sans"/>
                <a:cs typeface="DM Sans"/>
                <a:sym typeface="DM Sans"/>
              </a:rPr>
              <a:t> Aligns visual and textual representations.</a:t>
            </a:r>
            <a:endParaRPr/>
          </a:p>
        </p:txBody>
      </p:sp>
      <p:sp>
        <p:nvSpPr>
          <p:cNvPr id="237" name="Google Shape;237;p21"/>
          <p:cNvSpPr txBox="1"/>
          <p:nvPr/>
        </p:nvSpPr>
        <p:spPr>
          <a:xfrm>
            <a:off x="657225" y="4972050"/>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3.</a:t>
            </a:r>
            <a:endParaRPr/>
          </a:p>
        </p:txBody>
      </p:sp>
      <p:sp>
        <p:nvSpPr>
          <p:cNvPr id="238" name="Google Shape;238;p21"/>
          <p:cNvSpPr txBox="1"/>
          <p:nvPr/>
        </p:nvSpPr>
        <p:spPr>
          <a:xfrm>
            <a:off x="809625" y="4972050"/>
            <a:ext cx="5048250" cy="57150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Language Model (LLM):</a:t>
            </a:r>
            <a:r>
              <a:rPr b="0" i="0" lang="en-US" sz="1500" u="none" cap="none" strike="noStrike">
                <a:solidFill>
                  <a:srgbClr val="333333"/>
                </a:solidFill>
                <a:latin typeface="DM Sans"/>
                <a:ea typeface="DM Sans"/>
                <a:cs typeface="DM Sans"/>
                <a:sym typeface="DM Sans"/>
              </a:rPr>
              <a:t> A decoder that produces the final text output.</a:t>
            </a:r>
            <a:endParaRPr/>
          </a:p>
        </p:txBody>
      </p:sp>
      <p:sp>
        <p:nvSpPr>
          <p:cNvPr id="239" name="Google Shape;239;p21"/>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Multimodal Models (Image-Text)</a:t>
            </a:r>
            <a:endParaRPr/>
          </a:p>
        </p:txBody>
      </p:sp>
      <p:pic>
        <p:nvPicPr>
          <p:cNvPr id="240" name="Google Shape;240;p21" title="flow.png"/>
          <p:cNvPicPr preferRelativeResize="0"/>
          <p:nvPr/>
        </p:nvPicPr>
        <p:blipFill>
          <a:blip r:embed="rId4">
            <a:alphaModFix/>
          </a:blip>
          <a:stretch>
            <a:fillRect/>
          </a:stretch>
        </p:blipFill>
        <p:spPr>
          <a:xfrm>
            <a:off x="5998650" y="2362200"/>
            <a:ext cx="5948550" cy="31813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44" name="Shape 244"/>
        <p:cNvGrpSpPr/>
        <p:nvPr/>
      </p:nvGrpSpPr>
      <p:grpSpPr>
        <a:xfrm>
          <a:off x="0" y="0"/>
          <a:ext cx="0" cy="0"/>
          <a:chOff x="0" y="0"/>
          <a:chExt cx="0" cy="0"/>
        </a:xfrm>
      </p:grpSpPr>
      <p:pic>
        <p:nvPicPr>
          <p:cNvPr descr="image.png" id="245" name="Google Shape;245;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6" name="Google Shape;246;p22"/>
          <p:cNvSpPr txBox="1"/>
          <p:nvPr/>
        </p:nvSpPr>
        <p:spPr>
          <a:xfrm>
            <a:off x="571500" y="2617440"/>
            <a:ext cx="11049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Training Approaches:</a:t>
            </a:r>
            <a:r>
              <a:rPr b="0" i="0" lang="en-US" sz="1500" u="none" cap="none" strike="noStrike">
                <a:solidFill>
                  <a:srgbClr val="333333"/>
                </a:solidFill>
                <a:latin typeface="DM Sans"/>
                <a:ea typeface="DM Sans"/>
                <a:cs typeface="DM Sans"/>
                <a:sym typeface="DM Sans"/>
              </a:rPr>
              <a:t> Involves contrastive learning, instruction tuning, caption-generation training, and visual question answering (VQA) datasets.</a:t>
            </a:r>
            <a:endParaRPr/>
          </a:p>
        </p:txBody>
      </p:sp>
      <p:graphicFrame>
        <p:nvGraphicFramePr>
          <p:cNvPr id="247" name="Google Shape;247;p22"/>
          <p:cNvGraphicFramePr/>
          <p:nvPr/>
        </p:nvGraphicFramePr>
        <p:xfrm>
          <a:off x="571500" y="3379440"/>
          <a:ext cx="3000000" cy="3000000"/>
        </p:xfrm>
        <a:graphic>
          <a:graphicData uri="http://schemas.openxmlformats.org/drawingml/2006/table">
            <a:tbl>
              <a:tblPr bandRow="1" firstRow="1">
                <a:noFill/>
                <a:tableStyleId>{0C116D32-85B9-4D1D-8383-948903D5E1E7}</a:tableStyleId>
              </a:tblPr>
              <a:tblGrid>
                <a:gridCol w="3074500"/>
                <a:gridCol w="2994425"/>
                <a:gridCol w="4980075"/>
              </a:tblGrid>
              <a:tr h="400800">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Input Image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Prompt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Output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800">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Picture of a dog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'Describe the image.'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"A brown dog running on the grass".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800">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Chart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'What is profit trend?'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'Profit increases steadily... then declines'.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800">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Screenshot of webpage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'Extract all menu items.'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'Home, About, Contact, Services...'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800">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Photo of math question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'Solve this.'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'The answer is x=5'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48" name="Google Shape;248;p22"/>
          <p:cNvSpPr/>
          <p:nvPr/>
        </p:nvSpPr>
        <p:spPr>
          <a:xfrm>
            <a:off x="571500" y="3778448"/>
            <a:ext cx="307449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2"/>
          <p:cNvSpPr/>
          <p:nvPr/>
        </p:nvSpPr>
        <p:spPr>
          <a:xfrm>
            <a:off x="3645991" y="3778448"/>
            <a:ext cx="299442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2"/>
          <p:cNvSpPr/>
          <p:nvPr/>
        </p:nvSpPr>
        <p:spPr>
          <a:xfrm>
            <a:off x="6640413" y="3778448"/>
            <a:ext cx="49800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2"/>
          <p:cNvSpPr/>
          <p:nvPr/>
        </p:nvSpPr>
        <p:spPr>
          <a:xfrm>
            <a:off x="571500" y="4178498"/>
            <a:ext cx="307449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p:nvPr/>
        </p:nvSpPr>
        <p:spPr>
          <a:xfrm>
            <a:off x="3645991" y="4178498"/>
            <a:ext cx="299442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2"/>
          <p:cNvSpPr/>
          <p:nvPr/>
        </p:nvSpPr>
        <p:spPr>
          <a:xfrm>
            <a:off x="6640413" y="4178498"/>
            <a:ext cx="49800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2"/>
          <p:cNvSpPr/>
          <p:nvPr/>
        </p:nvSpPr>
        <p:spPr>
          <a:xfrm>
            <a:off x="571500" y="4578548"/>
            <a:ext cx="307449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2"/>
          <p:cNvSpPr/>
          <p:nvPr/>
        </p:nvSpPr>
        <p:spPr>
          <a:xfrm>
            <a:off x="3645991" y="4578548"/>
            <a:ext cx="299442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p:nvPr/>
        </p:nvSpPr>
        <p:spPr>
          <a:xfrm>
            <a:off x="6640413" y="4578548"/>
            <a:ext cx="49800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2"/>
          <p:cNvSpPr/>
          <p:nvPr/>
        </p:nvSpPr>
        <p:spPr>
          <a:xfrm>
            <a:off x="571500" y="4978598"/>
            <a:ext cx="307449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2"/>
          <p:cNvSpPr/>
          <p:nvPr/>
        </p:nvSpPr>
        <p:spPr>
          <a:xfrm>
            <a:off x="3645991" y="4978598"/>
            <a:ext cx="299442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2"/>
          <p:cNvSpPr/>
          <p:nvPr/>
        </p:nvSpPr>
        <p:spPr>
          <a:xfrm>
            <a:off x="6640413" y="4978598"/>
            <a:ext cx="49800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Multimodal Training &amp; Examples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64" name="Shape 264"/>
        <p:cNvGrpSpPr/>
        <p:nvPr/>
      </p:nvGrpSpPr>
      <p:grpSpPr>
        <a:xfrm>
          <a:off x="0" y="0"/>
          <a:ext cx="0" cy="0"/>
          <a:chOff x="0" y="0"/>
          <a:chExt cx="0" cy="0"/>
        </a:xfrm>
      </p:grpSpPr>
      <p:pic>
        <p:nvPicPr>
          <p:cNvPr descr="image.png" id="265" name="Google Shape;265;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6" name="Google Shape;266;p23"/>
          <p:cNvSpPr txBox="1"/>
          <p:nvPr/>
        </p:nvSpPr>
        <p:spPr>
          <a:xfrm>
            <a:off x="571500" y="17621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Precision vs. File Size</a:t>
            </a:r>
            <a:endParaRPr/>
          </a:p>
        </p:txBody>
      </p:sp>
      <p:sp>
        <p:nvSpPr>
          <p:cNvPr id="267" name="Google Shape;267;p23"/>
          <p:cNvSpPr txBox="1"/>
          <p:nvPr/>
        </p:nvSpPr>
        <p:spPr>
          <a:xfrm>
            <a:off x="571500" y="2295525"/>
            <a:ext cx="5286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This chart (based on Fig. 3) shows the size of a 7B parameter model at different precisions:</a:t>
            </a:r>
            <a:endParaRPr/>
          </a:p>
        </p:txBody>
      </p:sp>
      <p:sp>
        <p:nvSpPr>
          <p:cNvPr id="268" name="Google Shape;268;p23"/>
          <p:cNvSpPr txBox="1"/>
          <p:nvPr/>
        </p:nvSpPr>
        <p:spPr>
          <a:xfrm>
            <a:off x="571500" y="4819650"/>
            <a:ext cx="528637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Other precisions like </a:t>
            </a:r>
            <a:r>
              <a:rPr b="1" i="0" lang="en-US" sz="1500" u="none" cap="none" strike="noStrike">
                <a:solidFill>
                  <a:srgbClr val="333333"/>
                </a:solidFill>
                <a:latin typeface="DM Sans"/>
                <a:ea typeface="DM Sans"/>
                <a:cs typeface="DM Sans"/>
                <a:sym typeface="DM Sans"/>
              </a:rPr>
              <a:t>BF16</a:t>
            </a:r>
            <a:r>
              <a:rPr b="0" i="0" lang="en-US" sz="1500" u="none" cap="none" strike="noStrike">
                <a:solidFill>
                  <a:srgbClr val="333333"/>
                </a:solidFill>
                <a:latin typeface="DM Sans"/>
                <a:ea typeface="DM Sans"/>
                <a:cs typeface="DM Sans"/>
                <a:sym typeface="DM Sans"/>
              </a:rPr>
              <a:t> offer a larger dynamic range than FP16, while </a:t>
            </a:r>
            <a:r>
              <a:rPr b="1" i="0" lang="en-US" sz="1500" u="none" cap="none" strike="noStrike">
                <a:solidFill>
                  <a:srgbClr val="333333"/>
                </a:solidFill>
                <a:latin typeface="DM Sans"/>
                <a:ea typeface="DM Sans"/>
                <a:cs typeface="DM Sans"/>
                <a:sym typeface="DM Sans"/>
              </a:rPr>
              <a:t>INT2</a:t>
            </a:r>
            <a:r>
              <a:rPr b="0" i="0" lang="en-US" sz="1500" u="none" cap="none" strike="noStrike">
                <a:solidFill>
                  <a:srgbClr val="333333"/>
                </a:solidFill>
                <a:latin typeface="DM Sans"/>
                <a:ea typeface="DM Sans"/>
                <a:cs typeface="DM Sans"/>
                <a:sym typeface="DM Sans"/>
              </a:rPr>
              <a:t> is used for ultra-low-memory environments.</a:t>
            </a:r>
            <a:endParaRPr/>
          </a:p>
        </p:txBody>
      </p:sp>
      <p:sp>
        <p:nvSpPr>
          <p:cNvPr id="269" name="Google Shape;269;p23"/>
          <p:cNvSpPr txBox="1"/>
          <p:nvPr/>
        </p:nvSpPr>
        <p:spPr>
          <a:xfrm>
            <a:off x="742950" y="3057525"/>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a:t>
            </a:r>
            <a:endParaRPr/>
          </a:p>
        </p:txBody>
      </p:sp>
      <p:sp>
        <p:nvSpPr>
          <p:cNvPr id="270" name="Google Shape;270;p23"/>
          <p:cNvSpPr txBox="1"/>
          <p:nvPr/>
        </p:nvSpPr>
        <p:spPr>
          <a:xfrm>
            <a:off x="809625" y="3057525"/>
            <a:ext cx="504825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FP32:</a:t>
            </a:r>
            <a:r>
              <a:rPr b="0" i="0" lang="en-US" sz="1500" u="none" cap="none" strike="noStrike">
                <a:solidFill>
                  <a:srgbClr val="333333"/>
                </a:solidFill>
                <a:latin typeface="DM Sans"/>
                <a:ea typeface="DM Sans"/>
                <a:cs typeface="DM Sans"/>
                <a:sym typeface="DM Sans"/>
              </a:rPr>
              <a:t> 28 GB (100%)</a:t>
            </a:r>
            <a:endParaRPr/>
          </a:p>
        </p:txBody>
      </p:sp>
      <p:sp>
        <p:nvSpPr>
          <p:cNvPr id="271" name="Google Shape;271;p23"/>
          <p:cNvSpPr txBox="1"/>
          <p:nvPr/>
        </p:nvSpPr>
        <p:spPr>
          <a:xfrm>
            <a:off x="742950" y="348615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a:t>
            </a:r>
            <a:endParaRPr/>
          </a:p>
        </p:txBody>
      </p:sp>
      <p:sp>
        <p:nvSpPr>
          <p:cNvPr id="272" name="Google Shape;272;p23"/>
          <p:cNvSpPr txBox="1"/>
          <p:nvPr/>
        </p:nvSpPr>
        <p:spPr>
          <a:xfrm>
            <a:off x="809625" y="3486150"/>
            <a:ext cx="504825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FP16:</a:t>
            </a:r>
            <a:r>
              <a:rPr b="0" i="0" lang="en-US" sz="1500" u="none" cap="none" strike="noStrike">
                <a:solidFill>
                  <a:srgbClr val="333333"/>
                </a:solidFill>
                <a:latin typeface="DM Sans"/>
                <a:ea typeface="DM Sans"/>
                <a:cs typeface="DM Sans"/>
                <a:sym typeface="DM Sans"/>
              </a:rPr>
              <a:t> 14 GB (50%)</a:t>
            </a:r>
            <a:endParaRPr/>
          </a:p>
        </p:txBody>
      </p:sp>
      <p:sp>
        <p:nvSpPr>
          <p:cNvPr id="273" name="Google Shape;273;p23"/>
          <p:cNvSpPr txBox="1"/>
          <p:nvPr/>
        </p:nvSpPr>
        <p:spPr>
          <a:xfrm>
            <a:off x="742950" y="3914775"/>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a:t>
            </a:r>
            <a:endParaRPr/>
          </a:p>
        </p:txBody>
      </p:sp>
      <p:sp>
        <p:nvSpPr>
          <p:cNvPr id="274" name="Google Shape;274;p23"/>
          <p:cNvSpPr txBox="1"/>
          <p:nvPr/>
        </p:nvSpPr>
        <p:spPr>
          <a:xfrm>
            <a:off x="809625" y="3914775"/>
            <a:ext cx="504825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INT8:</a:t>
            </a:r>
            <a:r>
              <a:rPr b="0" i="0" lang="en-US" sz="1500" u="none" cap="none" strike="noStrike">
                <a:solidFill>
                  <a:srgbClr val="333333"/>
                </a:solidFill>
                <a:latin typeface="DM Sans"/>
                <a:ea typeface="DM Sans"/>
                <a:cs typeface="DM Sans"/>
                <a:sym typeface="DM Sans"/>
              </a:rPr>
              <a:t> 7 GB (25%)</a:t>
            </a:r>
            <a:endParaRPr/>
          </a:p>
        </p:txBody>
      </p:sp>
      <p:sp>
        <p:nvSpPr>
          <p:cNvPr id="275" name="Google Shape;275;p23"/>
          <p:cNvSpPr txBox="1"/>
          <p:nvPr/>
        </p:nvSpPr>
        <p:spPr>
          <a:xfrm>
            <a:off x="742950" y="434340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a:t>
            </a:r>
            <a:endParaRPr/>
          </a:p>
        </p:txBody>
      </p:sp>
      <p:sp>
        <p:nvSpPr>
          <p:cNvPr id="276" name="Google Shape;276;p23"/>
          <p:cNvSpPr txBox="1"/>
          <p:nvPr/>
        </p:nvSpPr>
        <p:spPr>
          <a:xfrm>
            <a:off x="809625" y="4343400"/>
            <a:ext cx="504825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INT4:</a:t>
            </a:r>
            <a:r>
              <a:rPr b="0" i="0" lang="en-US" sz="1500" u="none" cap="none" strike="noStrike">
                <a:solidFill>
                  <a:srgbClr val="333333"/>
                </a:solidFill>
                <a:latin typeface="DM Sans"/>
                <a:ea typeface="DM Sans"/>
                <a:cs typeface="DM Sans"/>
                <a:sym typeface="DM Sans"/>
              </a:rPr>
              <a:t> 3.5 GB (12.5%)</a:t>
            </a:r>
            <a:endParaRPr/>
          </a:p>
        </p:txBody>
      </p:sp>
      <p:sp>
        <p:nvSpPr>
          <p:cNvPr id="277" name="Google Shape;277;p23"/>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Relative Model Sizes</a:t>
            </a:r>
            <a:endParaRPr/>
          </a:p>
        </p:txBody>
      </p:sp>
      <p:pic>
        <p:nvPicPr>
          <p:cNvPr id="278" name="Google Shape;278;p23" title="size.png"/>
          <p:cNvPicPr preferRelativeResize="0"/>
          <p:nvPr/>
        </p:nvPicPr>
        <p:blipFill>
          <a:blip r:embed="rId4">
            <a:alphaModFix/>
          </a:blip>
          <a:stretch>
            <a:fillRect/>
          </a:stretch>
        </p:blipFill>
        <p:spPr>
          <a:xfrm>
            <a:off x="6736075" y="1566676"/>
            <a:ext cx="4571499" cy="4366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82" name="Shape 282"/>
        <p:cNvGrpSpPr/>
        <p:nvPr/>
      </p:nvGrpSpPr>
      <p:grpSpPr>
        <a:xfrm>
          <a:off x="0" y="0"/>
          <a:ext cx="0" cy="0"/>
          <a:chOff x="0" y="0"/>
          <a:chExt cx="0" cy="0"/>
        </a:xfrm>
      </p:grpSpPr>
      <p:pic>
        <p:nvPicPr>
          <p:cNvPr descr="image.png" id="283" name="Google Shape;283;p24"/>
          <p:cNvPicPr preferRelativeResize="0"/>
          <p:nvPr/>
        </p:nvPicPr>
        <p:blipFill rotWithShape="1">
          <a:blip r:embed="rId3">
            <a:alphaModFix/>
          </a:blip>
          <a:srcRect b="0" l="0" r="0" t="0"/>
          <a:stretch/>
        </p:blipFill>
        <p:spPr>
          <a:xfrm>
            <a:off x="0" y="-56100"/>
            <a:ext cx="12192000" cy="6858000"/>
          </a:xfrm>
          <a:prstGeom prst="rect">
            <a:avLst/>
          </a:prstGeom>
          <a:noFill/>
          <a:ln>
            <a:noFill/>
          </a:ln>
        </p:spPr>
      </p:pic>
      <p:sp>
        <p:nvSpPr>
          <p:cNvPr id="284" name="Google Shape;284;p24"/>
          <p:cNvSpPr txBox="1"/>
          <p:nvPr/>
        </p:nvSpPr>
        <p:spPr>
          <a:xfrm>
            <a:off x="1443075" y="1750725"/>
            <a:ext cx="9858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Q4_0:</a:t>
            </a:r>
            <a:r>
              <a:rPr b="1" i="0" lang="en-US" sz="1500" u="none" cap="none" strike="noStrike">
                <a:solidFill>
                  <a:srgbClr val="333333"/>
                </a:solidFill>
                <a:latin typeface="DM Sans"/>
                <a:ea typeface="DM Sans"/>
                <a:cs typeface="DM Sans"/>
                <a:sym typeface="DM Sans"/>
              </a:rPr>
              <a:t> </a:t>
            </a:r>
            <a:r>
              <a:rPr lang="en-US" sz="1500">
                <a:solidFill>
                  <a:schemeClr val="dk1"/>
                </a:solidFill>
                <a:latin typeface="DM Sans"/>
                <a:ea typeface="DM Sans"/>
                <a:cs typeface="DM Sans"/>
                <a:sym typeface="DM Sans"/>
              </a:rPr>
              <a:t>Simplest 4-bit quantization method using per-block scaling with no zero-point. It offers the fastest performance and smallest memory footprint. </a:t>
            </a:r>
            <a:endParaRPr sz="1500">
              <a:solidFill>
                <a:srgbClr val="333333"/>
              </a:solidFill>
              <a:latin typeface="DM Sans"/>
              <a:ea typeface="DM Sans"/>
              <a:cs typeface="DM Sans"/>
              <a:sym typeface="DM Sans"/>
            </a:endParaRPr>
          </a:p>
        </p:txBody>
      </p:sp>
      <p:sp>
        <p:nvSpPr>
          <p:cNvPr id="285" name="Google Shape;285;p24"/>
          <p:cNvSpPr txBox="1"/>
          <p:nvPr/>
        </p:nvSpPr>
        <p:spPr>
          <a:xfrm>
            <a:off x="1443075" y="2595263"/>
            <a:ext cx="9858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Q4_1:</a:t>
            </a:r>
            <a:r>
              <a:rPr i="0" lang="en-US" sz="1500" u="none" cap="none" strike="noStrike">
                <a:solidFill>
                  <a:srgbClr val="333333"/>
                </a:solidFill>
                <a:latin typeface="DM Sans"/>
                <a:ea typeface="DM Sans"/>
                <a:cs typeface="DM Sans"/>
                <a:sym typeface="DM Sans"/>
              </a:rPr>
              <a:t> </a:t>
            </a:r>
            <a:r>
              <a:rPr lang="en-US" sz="1500">
                <a:solidFill>
                  <a:schemeClr val="dk1"/>
                </a:solidFill>
                <a:latin typeface="DM Sans"/>
                <a:ea typeface="DM Sans"/>
                <a:cs typeface="DM Sans"/>
                <a:sym typeface="DM Sans"/>
              </a:rPr>
              <a:t>Extends Q4_0 by adding a zero-point, enabling better handling of shifted or asymmetric weights. This increases expressiveness and typically improves accuracy. </a:t>
            </a:r>
            <a:endParaRPr sz="1500">
              <a:solidFill>
                <a:srgbClr val="333333"/>
              </a:solidFill>
              <a:latin typeface="DM Sans"/>
              <a:ea typeface="DM Sans"/>
              <a:cs typeface="DM Sans"/>
              <a:sym typeface="DM Sans"/>
            </a:endParaRPr>
          </a:p>
        </p:txBody>
      </p:sp>
      <p:sp>
        <p:nvSpPr>
          <p:cNvPr id="286" name="Google Shape;286;p24"/>
          <p:cNvSpPr txBox="1"/>
          <p:nvPr/>
        </p:nvSpPr>
        <p:spPr>
          <a:xfrm>
            <a:off x="1443075" y="3439825"/>
            <a:ext cx="9858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Q4_KM:</a:t>
            </a:r>
            <a:r>
              <a:rPr i="0" lang="en-US" sz="1500" u="none" cap="none" strike="noStrike">
                <a:solidFill>
                  <a:srgbClr val="333333"/>
                </a:solidFill>
                <a:latin typeface="DM Sans"/>
                <a:ea typeface="DM Sans"/>
                <a:cs typeface="DM Sans"/>
                <a:sym typeface="DM Sans"/>
              </a:rPr>
              <a:t> </a:t>
            </a:r>
            <a:r>
              <a:rPr lang="en-US" sz="1500">
                <a:solidFill>
                  <a:schemeClr val="dk1"/>
                </a:solidFill>
                <a:latin typeface="DM Sans"/>
                <a:ea typeface="DM Sans"/>
                <a:cs typeface="DM Sans"/>
                <a:sym typeface="DM Sans"/>
              </a:rPr>
              <a:t>Uses group-wise (K-quant) blocks with optimized scaling for maximum stability.  It delivers the highest accuracy among INT4 methods, closely preserving FP16 behavior. </a:t>
            </a:r>
            <a:endParaRPr sz="1500">
              <a:solidFill>
                <a:srgbClr val="333333"/>
              </a:solidFill>
              <a:latin typeface="DM Sans"/>
              <a:ea typeface="DM Sans"/>
              <a:cs typeface="DM Sans"/>
              <a:sym typeface="DM Sans"/>
            </a:endParaRPr>
          </a:p>
        </p:txBody>
      </p:sp>
      <p:sp>
        <p:nvSpPr>
          <p:cNvPr id="287" name="Google Shape;287;p24"/>
          <p:cNvSpPr txBox="1"/>
          <p:nvPr/>
        </p:nvSpPr>
        <p:spPr>
          <a:xfrm>
            <a:off x="1443075" y="4353600"/>
            <a:ext cx="9858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Q4_KS:</a:t>
            </a:r>
            <a:r>
              <a:rPr b="1" i="0" lang="en-US" sz="1500" u="none" cap="none" strike="noStrike">
                <a:solidFill>
                  <a:srgbClr val="333333"/>
                </a:solidFill>
                <a:latin typeface="DM Sans"/>
                <a:ea typeface="DM Sans"/>
                <a:cs typeface="DM Sans"/>
                <a:sym typeface="DM Sans"/>
              </a:rPr>
              <a:t> </a:t>
            </a:r>
            <a:r>
              <a:rPr lang="en-US" sz="1500">
                <a:solidFill>
                  <a:schemeClr val="dk1"/>
                </a:solidFill>
                <a:latin typeface="DM Sans"/>
                <a:ea typeface="DM Sans"/>
                <a:cs typeface="DM Sans"/>
                <a:sym typeface="DM Sans"/>
              </a:rPr>
              <a:t>Symmetric variant of K-Quant optimized for weight distributions centered around zero.  It provides high stability with lower overhead by removing the zero-point. </a:t>
            </a:r>
            <a:endParaRPr sz="1500">
              <a:solidFill>
                <a:srgbClr val="333333"/>
              </a:solidFill>
              <a:latin typeface="DM Sans"/>
              <a:ea typeface="DM Sans"/>
              <a:cs typeface="DM Sans"/>
              <a:sym typeface="DM Sans"/>
            </a:endParaRPr>
          </a:p>
        </p:txBody>
      </p:sp>
      <p:pic>
        <p:nvPicPr>
          <p:cNvPr descr="image.png" id="288" name="Google Shape;288;p24"/>
          <p:cNvPicPr preferRelativeResize="0"/>
          <p:nvPr/>
        </p:nvPicPr>
        <p:blipFill rotWithShape="1">
          <a:blip r:embed="rId4">
            <a:alphaModFix/>
          </a:blip>
          <a:srcRect b="0" l="0" r="0" t="0"/>
          <a:stretch/>
        </p:blipFill>
        <p:spPr>
          <a:xfrm>
            <a:off x="952500" y="1766738"/>
            <a:ext cx="285750" cy="228600"/>
          </a:xfrm>
          <a:prstGeom prst="rect">
            <a:avLst/>
          </a:prstGeom>
          <a:noFill/>
          <a:ln>
            <a:noFill/>
          </a:ln>
        </p:spPr>
      </p:pic>
      <p:pic>
        <p:nvPicPr>
          <p:cNvPr descr="image.png" id="289" name="Google Shape;289;p24"/>
          <p:cNvPicPr preferRelativeResize="0"/>
          <p:nvPr/>
        </p:nvPicPr>
        <p:blipFill rotWithShape="1">
          <a:blip r:embed="rId5">
            <a:alphaModFix/>
          </a:blip>
          <a:srcRect b="0" l="0" r="0" t="0"/>
          <a:stretch/>
        </p:blipFill>
        <p:spPr>
          <a:xfrm>
            <a:off x="952500" y="2597875"/>
            <a:ext cx="285750" cy="228600"/>
          </a:xfrm>
          <a:prstGeom prst="rect">
            <a:avLst/>
          </a:prstGeom>
          <a:noFill/>
          <a:ln>
            <a:noFill/>
          </a:ln>
        </p:spPr>
      </p:pic>
      <p:pic>
        <p:nvPicPr>
          <p:cNvPr descr="image.png" id="290" name="Google Shape;290;p24"/>
          <p:cNvPicPr preferRelativeResize="0"/>
          <p:nvPr/>
        </p:nvPicPr>
        <p:blipFill rotWithShape="1">
          <a:blip r:embed="rId6">
            <a:alphaModFix/>
          </a:blip>
          <a:srcRect b="0" l="0" r="0" t="0"/>
          <a:stretch/>
        </p:blipFill>
        <p:spPr>
          <a:xfrm>
            <a:off x="952500" y="3429000"/>
            <a:ext cx="285750" cy="228600"/>
          </a:xfrm>
          <a:prstGeom prst="rect">
            <a:avLst/>
          </a:prstGeom>
          <a:noFill/>
          <a:ln>
            <a:noFill/>
          </a:ln>
        </p:spPr>
      </p:pic>
      <p:pic>
        <p:nvPicPr>
          <p:cNvPr descr="image.png" id="291" name="Google Shape;291;p24"/>
          <p:cNvPicPr preferRelativeResize="0"/>
          <p:nvPr/>
        </p:nvPicPr>
        <p:blipFill rotWithShape="1">
          <a:blip r:embed="rId7">
            <a:alphaModFix/>
          </a:blip>
          <a:srcRect b="0" l="0" r="0" t="0"/>
          <a:stretch/>
        </p:blipFill>
        <p:spPr>
          <a:xfrm>
            <a:off x="952500" y="4353600"/>
            <a:ext cx="285750" cy="228600"/>
          </a:xfrm>
          <a:prstGeom prst="rect">
            <a:avLst/>
          </a:prstGeom>
          <a:noFill/>
          <a:ln>
            <a:noFill/>
          </a:ln>
        </p:spPr>
      </p:pic>
      <p:sp>
        <p:nvSpPr>
          <p:cNvPr id="292" name="Google Shape;292;p24"/>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Types of INT4 Quantization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96" name="Shape 296"/>
        <p:cNvGrpSpPr/>
        <p:nvPr/>
      </p:nvGrpSpPr>
      <p:grpSpPr>
        <a:xfrm>
          <a:off x="0" y="0"/>
          <a:ext cx="0" cy="0"/>
          <a:chOff x="0" y="0"/>
          <a:chExt cx="0" cy="0"/>
        </a:xfrm>
      </p:grpSpPr>
      <p:pic>
        <p:nvPicPr>
          <p:cNvPr descr="image.png" id="297" name="Google Shape;297;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8" name="Google Shape;298;p25"/>
          <p:cNvSpPr txBox="1"/>
          <p:nvPr/>
        </p:nvSpPr>
        <p:spPr>
          <a:xfrm>
            <a:off x="1960959" y="3406378"/>
            <a:ext cx="650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99" name="Google Shape;299;p25"/>
          <p:cNvSpPr txBox="1"/>
          <p:nvPr/>
        </p:nvSpPr>
        <p:spPr>
          <a:xfrm>
            <a:off x="866775" y="4063603"/>
            <a:ext cx="2838600" cy="215400"/>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t/>
            </a:r>
            <a:endParaRPr/>
          </a:p>
        </p:txBody>
      </p:sp>
      <p:sp>
        <p:nvSpPr>
          <p:cNvPr id="300" name="Google Shape;300;p25"/>
          <p:cNvSpPr txBox="1"/>
          <p:nvPr/>
        </p:nvSpPr>
        <p:spPr>
          <a:xfrm>
            <a:off x="5755957" y="3406378"/>
            <a:ext cx="680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301" name="Google Shape;301;p25"/>
          <p:cNvSpPr txBox="1"/>
          <p:nvPr/>
        </p:nvSpPr>
        <p:spPr>
          <a:xfrm>
            <a:off x="4676775" y="4063603"/>
            <a:ext cx="2838600" cy="207900"/>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333333"/>
                </a:solidFill>
                <a:latin typeface="DM Sans"/>
                <a:ea typeface="DM Sans"/>
                <a:cs typeface="DM Sans"/>
                <a:sym typeface="DM Sans"/>
              </a:rPr>
              <a:t>.</a:t>
            </a:r>
            <a:endParaRPr/>
          </a:p>
        </p:txBody>
      </p:sp>
      <p:sp>
        <p:nvSpPr>
          <p:cNvPr id="302" name="Google Shape;302;p25"/>
          <p:cNvSpPr txBox="1"/>
          <p:nvPr/>
        </p:nvSpPr>
        <p:spPr>
          <a:xfrm>
            <a:off x="9590960" y="3406378"/>
            <a:ext cx="6300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303" name="Google Shape;303;p25"/>
          <p:cNvSpPr txBox="1"/>
          <p:nvPr/>
        </p:nvSpPr>
        <p:spPr>
          <a:xfrm>
            <a:off x="8486775" y="4063603"/>
            <a:ext cx="2838600" cy="215400"/>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t/>
            </a:r>
            <a:endParaRPr/>
          </a:p>
        </p:txBody>
      </p:sp>
      <p:sp>
        <p:nvSpPr>
          <p:cNvPr id="304" name="Google Shape;304;p25"/>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Types of INT8 Quantization</a:t>
            </a:r>
            <a:endParaRPr/>
          </a:p>
        </p:txBody>
      </p:sp>
      <p:sp>
        <p:nvSpPr>
          <p:cNvPr id="305" name="Google Shape;305;p25"/>
          <p:cNvSpPr txBox="1"/>
          <p:nvPr/>
        </p:nvSpPr>
        <p:spPr>
          <a:xfrm>
            <a:off x="2011675" y="1981200"/>
            <a:ext cx="37443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306" name="Google Shape;306;p25"/>
          <p:cNvSpPr txBox="1"/>
          <p:nvPr/>
        </p:nvSpPr>
        <p:spPr>
          <a:xfrm>
            <a:off x="1381163" y="1812988"/>
            <a:ext cx="98583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a:t>
            </a:r>
            <a:r>
              <a:rPr b="1" lang="en-US" sz="1500">
                <a:solidFill>
                  <a:srgbClr val="005088"/>
                </a:solidFill>
                <a:latin typeface="DM Sans"/>
                <a:ea typeface="DM Sans"/>
                <a:cs typeface="DM Sans"/>
                <a:sym typeface="DM Sans"/>
              </a:rPr>
              <a:t>8_0</a:t>
            </a:r>
            <a:r>
              <a:rPr b="1" i="0" lang="en-US" sz="1500" u="none" cap="none" strike="noStrike">
                <a:solidFill>
                  <a:srgbClr val="005088"/>
                </a:solidFill>
                <a:latin typeface="DM Sans"/>
                <a:ea typeface="DM Sans"/>
                <a:cs typeface="DM Sans"/>
                <a:sym typeface="DM Sans"/>
              </a:rPr>
              <a:t>:</a:t>
            </a:r>
            <a:r>
              <a:rPr lang="en-US" sz="1500">
                <a:solidFill>
                  <a:srgbClr val="005088"/>
                </a:solidFill>
                <a:latin typeface="DM Sans"/>
                <a:ea typeface="DM Sans"/>
                <a:cs typeface="DM Sans"/>
                <a:sym typeface="DM Sans"/>
              </a:rPr>
              <a:t> </a:t>
            </a:r>
            <a:r>
              <a:rPr lang="en-US" sz="1500">
                <a:solidFill>
                  <a:schemeClr val="dk1"/>
                </a:solidFill>
                <a:latin typeface="DM Sans"/>
                <a:ea typeface="DM Sans"/>
                <a:cs typeface="DM Sans"/>
                <a:sym typeface="DM Sans"/>
              </a:rPr>
              <a:t>Basic and widely used INT8 format with per-block scaling and no zero-point. Simple, fast, and stable for most layers. Offers a good balance of accuracy and performance.</a:t>
            </a:r>
            <a:endParaRPr sz="1500">
              <a:solidFill>
                <a:srgbClr val="333333"/>
              </a:solidFill>
              <a:latin typeface="DM Sans"/>
              <a:ea typeface="DM Sans"/>
              <a:cs typeface="DM Sans"/>
              <a:sym typeface="DM Sans"/>
            </a:endParaRPr>
          </a:p>
          <a:p>
            <a:pPr indent="0" lvl="0" marL="0" marR="0" rtl="0" algn="l">
              <a:lnSpc>
                <a:spcPct val="150000"/>
              </a:lnSpc>
              <a:spcBef>
                <a:spcPts val="0"/>
              </a:spcBef>
              <a:spcAft>
                <a:spcPts val="0"/>
              </a:spcAft>
              <a:buNone/>
            </a:pPr>
            <a:r>
              <a:t/>
            </a:r>
            <a:endParaRPr sz="1500">
              <a:solidFill>
                <a:srgbClr val="333333"/>
              </a:solidFill>
              <a:latin typeface="DM Sans"/>
              <a:ea typeface="DM Sans"/>
              <a:cs typeface="DM Sans"/>
              <a:sym typeface="DM Sans"/>
            </a:endParaRPr>
          </a:p>
        </p:txBody>
      </p:sp>
      <p:pic>
        <p:nvPicPr>
          <p:cNvPr descr="image.png" id="307" name="Google Shape;307;p25"/>
          <p:cNvPicPr preferRelativeResize="0"/>
          <p:nvPr/>
        </p:nvPicPr>
        <p:blipFill rotWithShape="1">
          <a:blip r:embed="rId4">
            <a:alphaModFix/>
          </a:blip>
          <a:srcRect b="0" l="0" r="0" t="0"/>
          <a:stretch/>
        </p:blipFill>
        <p:spPr>
          <a:xfrm>
            <a:off x="952538" y="1813000"/>
            <a:ext cx="285750" cy="228600"/>
          </a:xfrm>
          <a:prstGeom prst="rect">
            <a:avLst/>
          </a:prstGeom>
          <a:noFill/>
          <a:ln>
            <a:noFill/>
          </a:ln>
        </p:spPr>
      </p:pic>
      <p:sp>
        <p:nvSpPr>
          <p:cNvPr id="308" name="Google Shape;308;p25"/>
          <p:cNvSpPr txBox="1"/>
          <p:nvPr/>
        </p:nvSpPr>
        <p:spPr>
          <a:xfrm>
            <a:off x="1381163" y="2895063"/>
            <a:ext cx="98583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a:t>
            </a:r>
            <a:r>
              <a:rPr b="1" lang="en-US" sz="1500">
                <a:solidFill>
                  <a:srgbClr val="005088"/>
                </a:solidFill>
                <a:latin typeface="DM Sans"/>
                <a:ea typeface="DM Sans"/>
                <a:cs typeface="DM Sans"/>
                <a:sym typeface="DM Sans"/>
              </a:rPr>
              <a:t>8_K</a:t>
            </a:r>
            <a:r>
              <a:rPr b="1" i="0" lang="en-US" sz="1500" u="none" cap="none" strike="noStrike">
                <a:solidFill>
                  <a:srgbClr val="005088"/>
                </a:solidFill>
                <a:latin typeface="DM Sans"/>
                <a:ea typeface="DM Sans"/>
                <a:cs typeface="DM Sans"/>
                <a:sym typeface="DM Sans"/>
              </a:rPr>
              <a:t>:</a:t>
            </a:r>
            <a:r>
              <a:rPr b="1" lang="en-US" sz="1500">
                <a:solidFill>
                  <a:srgbClr val="005088"/>
                </a:solidFill>
                <a:latin typeface="DM Sans"/>
                <a:ea typeface="DM Sans"/>
                <a:cs typeface="DM Sans"/>
                <a:sym typeface="DM Sans"/>
              </a:rPr>
              <a:t> </a:t>
            </a:r>
            <a:r>
              <a:rPr lang="en-US" sz="1500">
                <a:solidFill>
                  <a:schemeClr val="dk1"/>
                </a:solidFill>
                <a:latin typeface="DM Sans"/>
                <a:ea typeface="DM Sans"/>
                <a:cs typeface="DM Sans"/>
                <a:sym typeface="DM Sans"/>
              </a:rPr>
              <a:t>K-quant optimized INT8 format using group-wise scaling. Significantly reduces quantization error and improves accuracy. Highly effective for larger models like LLaMA and Qwen.</a:t>
            </a:r>
            <a:endParaRPr sz="1500">
              <a:solidFill>
                <a:srgbClr val="333333"/>
              </a:solidFill>
              <a:latin typeface="DM Sans"/>
              <a:ea typeface="DM Sans"/>
              <a:cs typeface="DM Sans"/>
              <a:sym typeface="DM Sans"/>
            </a:endParaRPr>
          </a:p>
          <a:p>
            <a:pPr indent="0" lvl="0" marL="0" marR="0" rtl="0" algn="l">
              <a:lnSpc>
                <a:spcPct val="150000"/>
              </a:lnSpc>
              <a:spcBef>
                <a:spcPts val="0"/>
              </a:spcBef>
              <a:spcAft>
                <a:spcPts val="0"/>
              </a:spcAft>
              <a:buNone/>
            </a:pPr>
            <a:r>
              <a:t/>
            </a:r>
            <a:endParaRPr sz="1500">
              <a:solidFill>
                <a:srgbClr val="333333"/>
              </a:solidFill>
              <a:latin typeface="DM Sans"/>
              <a:ea typeface="DM Sans"/>
              <a:cs typeface="DM Sans"/>
              <a:sym typeface="DM Sans"/>
            </a:endParaRPr>
          </a:p>
        </p:txBody>
      </p:sp>
      <p:pic>
        <p:nvPicPr>
          <p:cNvPr descr="image.png" id="309" name="Google Shape;309;p25"/>
          <p:cNvPicPr preferRelativeResize="0"/>
          <p:nvPr/>
        </p:nvPicPr>
        <p:blipFill rotWithShape="1">
          <a:blip r:embed="rId4">
            <a:alphaModFix/>
          </a:blip>
          <a:srcRect b="0" l="0" r="0" t="0"/>
          <a:stretch/>
        </p:blipFill>
        <p:spPr>
          <a:xfrm>
            <a:off x="952538" y="2893650"/>
            <a:ext cx="285750" cy="228600"/>
          </a:xfrm>
          <a:prstGeom prst="rect">
            <a:avLst/>
          </a:prstGeom>
          <a:noFill/>
          <a:ln>
            <a:noFill/>
          </a:ln>
        </p:spPr>
      </p:pic>
      <p:sp>
        <p:nvSpPr>
          <p:cNvPr id="310" name="Google Shape;310;p25"/>
          <p:cNvSpPr txBox="1"/>
          <p:nvPr/>
        </p:nvSpPr>
        <p:spPr>
          <a:xfrm>
            <a:off x="1381163" y="3977125"/>
            <a:ext cx="98583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005088"/>
                </a:solidFill>
                <a:latin typeface="DM Sans"/>
                <a:ea typeface="DM Sans"/>
                <a:cs typeface="DM Sans"/>
                <a:sym typeface="DM Sans"/>
              </a:rPr>
              <a:t>Q</a:t>
            </a:r>
            <a:r>
              <a:rPr b="1" lang="en-US" sz="1500">
                <a:solidFill>
                  <a:srgbClr val="005088"/>
                </a:solidFill>
                <a:latin typeface="DM Sans"/>
                <a:ea typeface="DM Sans"/>
                <a:cs typeface="DM Sans"/>
                <a:sym typeface="DM Sans"/>
              </a:rPr>
              <a:t>8_S</a:t>
            </a:r>
            <a:r>
              <a:rPr b="1" i="0" lang="en-US" sz="1500" u="none" cap="none" strike="noStrike">
                <a:solidFill>
                  <a:srgbClr val="005088"/>
                </a:solidFill>
                <a:latin typeface="DM Sans"/>
                <a:ea typeface="DM Sans"/>
                <a:cs typeface="DM Sans"/>
                <a:sym typeface="DM Sans"/>
              </a:rPr>
              <a:t>:</a:t>
            </a:r>
            <a:r>
              <a:rPr b="1" lang="en-US" sz="1500">
                <a:solidFill>
                  <a:srgbClr val="005088"/>
                </a:solidFill>
                <a:latin typeface="DM Sans"/>
                <a:ea typeface="DM Sans"/>
                <a:cs typeface="DM Sans"/>
                <a:sym typeface="DM Sans"/>
              </a:rPr>
              <a:t> </a:t>
            </a:r>
            <a:r>
              <a:rPr lang="en-US" sz="1500">
                <a:solidFill>
                  <a:schemeClr val="dk1"/>
                </a:solidFill>
                <a:latin typeface="DM Sans"/>
                <a:ea typeface="DM Sans"/>
                <a:cs typeface="DM Sans"/>
                <a:sym typeface="DM Sans"/>
              </a:rPr>
              <a:t>Symmetric INT8 variant with no zero-point, assuming weights are centered around zero. Simplifies computation and improves speed. Works best when weight distributions are naturally symmetric.</a:t>
            </a:r>
            <a:endParaRPr sz="1500">
              <a:solidFill>
                <a:srgbClr val="333333"/>
              </a:solidFill>
              <a:latin typeface="DM Sans"/>
              <a:ea typeface="DM Sans"/>
              <a:cs typeface="DM Sans"/>
              <a:sym typeface="DM Sans"/>
            </a:endParaRPr>
          </a:p>
          <a:p>
            <a:pPr indent="0" lvl="0" marL="0" marR="0" rtl="0" algn="l">
              <a:lnSpc>
                <a:spcPct val="150000"/>
              </a:lnSpc>
              <a:spcBef>
                <a:spcPts val="0"/>
              </a:spcBef>
              <a:spcAft>
                <a:spcPts val="0"/>
              </a:spcAft>
              <a:buNone/>
            </a:pPr>
            <a:r>
              <a:t/>
            </a:r>
            <a:endParaRPr sz="1500">
              <a:solidFill>
                <a:srgbClr val="333333"/>
              </a:solidFill>
              <a:latin typeface="DM Sans"/>
              <a:ea typeface="DM Sans"/>
              <a:cs typeface="DM Sans"/>
              <a:sym typeface="DM Sans"/>
            </a:endParaRPr>
          </a:p>
        </p:txBody>
      </p:sp>
      <p:pic>
        <p:nvPicPr>
          <p:cNvPr descr="image.png" id="311" name="Google Shape;311;p25"/>
          <p:cNvPicPr preferRelativeResize="0"/>
          <p:nvPr/>
        </p:nvPicPr>
        <p:blipFill rotWithShape="1">
          <a:blip r:embed="rId4">
            <a:alphaModFix/>
          </a:blip>
          <a:srcRect b="0" l="0" r="0" t="0"/>
          <a:stretch/>
        </p:blipFill>
        <p:spPr>
          <a:xfrm>
            <a:off x="952538" y="3974300"/>
            <a:ext cx="285750" cy="22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15" name="Shape 315"/>
        <p:cNvGrpSpPr/>
        <p:nvPr/>
      </p:nvGrpSpPr>
      <p:grpSpPr>
        <a:xfrm>
          <a:off x="0" y="0"/>
          <a:ext cx="0" cy="0"/>
          <a:chOff x="0" y="0"/>
          <a:chExt cx="0" cy="0"/>
        </a:xfrm>
      </p:grpSpPr>
      <p:pic>
        <p:nvPicPr>
          <p:cNvPr descr="image.png" id="316" name="Google Shape;316;p26"/>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17" name="Google Shape;317;p26"/>
          <p:cNvGraphicFramePr/>
          <p:nvPr/>
        </p:nvGraphicFramePr>
        <p:xfrm>
          <a:off x="571500" y="1280200"/>
          <a:ext cx="3000000" cy="3000000"/>
        </p:xfrm>
        <a:graphic>
          <a:graphicData uri="http://schemas.openxmlformats.org/drawingml/2006/table">
            <a:tbl>
              <a:tblPr bandRow="1" firstRow="1">
                <a:noFill/>
                <a:tableStyleId>{0C116D32-85B9-4D1D-8383-948903D5E1E7}</a:tableStyleId>
              </a:tblPr>
              <a:tblGrid>
                <a:gridCol w="828675"/>
                <a:gridCol w="800100"/>
                <a:gridCol w="3549400"/>
                <a:gridCol w="2852600"/>
                <a:gridCol w="3018225"/>
              </a:tblGrid>
              <a:tr h="1068175">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Params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Strengths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Weaknesses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Ideal For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0681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3B, 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Strong reasoning, coding capability, multilingual support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 Heavy at slower than lightweight models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Reasoning tasks, coding, multilingual inference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681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LLAVA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 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Strong VLM alignment, good captioning and VQA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Weaker long-form reasoning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Captioning, multimodal chat, VQA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0681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MiniCPM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4B, 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Efficient, lightweight, quantization-friendly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Not strong in math or deep reasoning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Edge deployment, quantized inference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18" name="Google Shape;318;p26"/>
          <p:cNvSpPr/>
          <p:nvPr/>
        </p:nvSpPr>
        <p:spPr>
          <a:xfrm>
            <a:off x="571500" y="1923008"/>
            <a:ext cx="8286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6"/>
          <p:cNvSpPr/>
          <p:nvPr/>
        </p:nvSpPr>
        <p:spPr>
          <a:xfrm>
            <a:off x="1400175" y="1923008"/>
            <a:ext cx="8001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6"/>
          <p:cNvSpPr/>
          <p:nvPr/>
        </p:nvSpPr>
        <p:spPr>
          <a:xfrm>
            <a:off x="2200275" y="1923008"/>
            <a:ext cx="3549401"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6"/>
          <p:cNvSpPr/>
          <p:nvPr/>
        </p:nvSpPr>
        <p:spPr>
          <a:xfrm>
            <a:off x="5749676" y="1923008"/>
            <a:ext cx="285258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6"/>
          <p:cNvSpPr/>
          <p:nvPr/>
        </p:nvSpPr>
        <p:spPr>
          <a:xfrm>
            <a:off x="8602265" y="1923008"/>
            <a:ext cx="3018234"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Vision-Language Model Comparison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27" name="Shape 327"/>
        <p:cNvGrpSpPr/>
        <p:nvPr/>
      </p:nvGrpSpPr>
      <p:grpSpPr>
        <a:xfrm>
          <a:off x="0" y="0"/>
          <a:ext cx="0" cy="0"/>
          <a:chOff x="0" y="0"/>
          <a:chExt cx="0" cy="0"/>
        </a:xfrm>
      </p:grpSpPr>
      <p:pic>
        <p:nvPicPr>
          <p:cNvPr descr="image.png" id="328" name="Google Shape;32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9" name="Google Shape;329;p27"/>
          <p:cNvPicPr preferRelativeResize="0"/>
          <p:nvPr/>
        </p:nvPicPr>
        <p:blipFill rotWithShape="1">
          <a:blip r:embed="rId4">
            <a:alphaModFix/>
          </a:blip>
          <a:srcRect b="0" l="0" r="0" t="0"/>
          <a:stretch/>
        </p:blipFill>
        <p:spPr>
          <a:xfrm>
            <a:off x="571500" y="1857077"/>
            <a:ext cx="5286375" cy="4096196"/>
          </a:xfrm>
          <a:prstGeom prst="rect">
            <a:avLst/>
          </a:prstGeom>
          <a:noFill/>
          <a:ln>
            <a:noFill/>
          </a:ln>
        </p:spPr>
      </p:pic>
      <p:pic>
        <p:nvPicPr>
          <p:cNvPr descr="image.png" id="330" name="Google Shape;330;p27"/>
          <p:cNvPicPr preferRelativeResize="0"/>
          <p:nvPr/>
        </p:nvPicPr>
        <p:blipFill rotWithShape="1">
          <a:blip r:embed="rId5">
            <a:alphaModFix/>
          </a:blip>
          <a:srcRect b="0" l="0" r="0" t="0"/>
          <a:stretch/>
        </p:blipFill>
        <p:spPr>
          <a:xfrm>
            <a:off x="6334125" y="1857077"/>
            <a:ext cx="5286375" cy="4096196"/>
          </a:xfrm>
          <a:prstGeom prst="rect">
            <a:avLst/>
          </a:prstGeom>
          <a:noFill/>
          <a:ln>
            <a:noFill/>
          </a:ln>
        </p:spPr>
      </p:pic>
      <p:sp>
        <p:nvSpPr>
          <p:cNvPr id="331" name="Google Shape;331;p27"/>
          <p:cNvSpPr txBox="1"/>
          <p:nvPr/>
        </p:nvSpPr>
        <p:spPr>
          <a:xfrm>
            <a:off x="962025" y="2247602"/>
            <a:ext cx="4730591"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BLEU (Bilingual Evaluation Understudy)</a:t>
            </a:r>
            <a:endParaRPr/>
          </a:p>
        </p:txBody>
      </p:sp>
      <p:sp>
        <p:nvSpPr>
          <p:cNvPr id="332" name="Google Shape;332;p27"/>
          <p:cNvSpPr txBox="1"/>
          <p:nvPr/>
        </p:nvSpPr>
        <p:spPr>
          <a:xfrm>
            <a:off x="962025" y="3123902"/>
            <a:ext cx="4505325"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Measures n-gram overlap between generated and reference captions. It combines n-gram precision (P) using a Geometric Mean (GM) and applies a Brevity Penalty (BP) for short sentences.</a:t>
            </a:r>
            <a:endParaRPr/>
          </a:p>
        </p:txBody>
      </p:sp>
      <p:sp>
        <p:nvSpPr>
          <p:cNvPr id="333" name="Google Shape;333;p27"/>
          <p:cNvSpPr txBox="1"/>
          <p:nvPr/>
        </p:nvSpPr>
        <p:spPr>
          <a:xfrm>
            <a:off x="962025" y="4457402"/>
            <a:ext cx="4505325"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005088"/>
                </a:solidFill>
                <a:latin typeface="Merriweather"/>
                <a:ea typeface="Merriweather"/>
                <a:cs typeface="Merriweather"/>
                <a:sym typeface="Merriweather"/>
              </a:rPr>
              <a:t>BLEU = BP × GM</a:t>
            </a:r>
            <a:endParaRPr/>
          </a:p>
        </p:txBody>
      </p:sp>
      <p:sp>
        <p:nvSpPr>
          <p:cNvPr id="334" name="Google Shape;334;p27"/>
          <p:cNvSpPr txBox="1"/>
          <p:nvPr/>
        </p:nvSpPr>
        <p:spPr>
          <a:xfrm>
            <a:off x="6724650" y="2247602"/>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Key Formulas (MathML)</a:t>
            </a:r>
            <a:endParaRPr/>
          </a:p>
        </p:txBody>
      </p:sp>
      <p:sp>
        <p:nvSpPr>
          <p:cNvPr id="335" name="Google Shape;335;p27"/>
          <p:cNvSpPr txBox="1"/>
          <p:nvPr/>
        </p:nvSpPr>
        <p:spPr>
          <a:xfrm>
            <a:off x="6724650" y="2781002"/>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Geometric Mean (GM):</a:t>
            </a:r>
            <a:endParaRPr/>
          </a:p>
        </p:txBody>
      </p:sp>
      <p:sp>
        <p:nvSpPr>
          <p:cNvPr id="336" name="Google Shape;336;p27"/>
          <p:cNvSpPr txBox="1"/>
          <p:nvPr/>
        </p:nvSpPr>
        <p:spPr>
          <a:xfrm>
            <a:off x="6724650" y="4150518"/>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Brevity Penalty (BP):</a:t>
            </a:r>
            <a:endParaRPr/>
          </a:p>
        </p:txBody>
      </p:sp>
      <p:sp>
        <p:nvSpPr>
          <p:cNvPr id="337" name="Google Shape;337;p27"/>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Evaluation Metric: BLEU</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41" name="Shape 341"/>
        <p:cNvGrpSpPr/>
        <p:nvPr/>
      </p:nvGrpSpPr>
      <p:grpSpPr>
        <a:xfrm>
          <a:off x="0" y="0"/>
          <a:ext cx="0" cy="0"/>
          <a:chOff x="0" y="0"/>
          <a:chExt cx="0" cy="0"/>
        </a:xfrm>
      </p:grpSpPr>
      <p:pic>
        <p:nvPicPr>
          <p:cNvPr descr="image.png" id="342" name="Google Shape;342;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3" name="Google Shape;343;p28"/>
          <p:cNvPicPr preferRelativeResize="0"/>
          <p:nvPr/>
        </p:nvPicPr>
        <p:blipFill rotWithShape="1">
          <a:blip r:embed="rId4">
            <a:alphaModFix/>
          </a:blip>
          <a:srcRect b="0" l="0" r="0" t="0"/>
          <a:stretch/>
        </p:blipFill>
        <p:spPr>
          <a:xfrm>
            <a:off x="571500" y="1081087"/>
            <a:ext cx="5286375" cy="5648325"/>
          </a:xfrm>
          <a:prstGeom prst="rect">
            <a:avLst/>
          </a:prstGeom>
          <a:noFill/>
          <a:ln>
            <a:noFill/>
          </a:ln>
        </p:spPr>
      </p:pic>
      <p:pic>
        <p:nvPicPr>
          <p:cNvPr descr="image.png" id="344" name="Google Shape;344;p28"/>
          <p:cNvPicPr preferRelativeResize="0"/>
          <p:nvPr/>
        </p:nvPicPr>
        <p:blipFill rotWithShape="1">
          <a:blip r:embed="rId5">
            <a:alphaModFix/>
          </a:blip>
          <a:srcRect b="0" l="0" r="0" t="0"/>
          <a:stretch/>
        </p:blipFill>
        <p:spPr>
          <a:xfrm>
            <a:off x="6334125" y="1081087"/>
            <a:ext cx="5286375" cy="5648325"/>
          </a:xfrm>
          <a:prstGeom prst="rect">
            <a:avLst/>
          </a:prstGeom>
          <a:noFill/>
          <a:ln>
            <a:noFill/>
          </a:ln>
        </p:spPr>
      </p:pic>
      <p:sp>
        <p:nvSpPr>
          <p:cNvPr id="345" name="Google Shape;345;p28"/>
          <p:cNvSpPr txBox="1"/>
          <p:nvPr/>
        </p:nvSpPr>
        <p:spPr>
          <a:xfrm>
            <a:off x="962025" y="1471612"/>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METEOR Steps</a:t>
            </a:r>
            <a:endParaRPr/>
          </a:p>
        </p:txBody>
      </p:sp>
      <p:sp>
        <p:nvSpPr>
          <p:cNvPr id="346" name="Google Shape;346;p28"/>
          <p:cNvSpPr txBox="1"/>
          <p:nvPr/>
        </p:nvSpPr>
        <p:spPr>
          <a:xfrm>
            <a:off x="962025" y="2005012"/>
            <a:ext cx="45053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Aligns closely with human judgment by evaluating semantic similarity.</a:t>
            </a:r>
            <a:endParaRPr/>
          </a:p>
        </p:txBody>
      </p:sp>
      <p:sp>
        <p:nvSpPr>
          <p:cNvPr id="347" name="Google Shape;347;p28"/>
          <p:cNvSpPr txBox="1"/>
          <p:nvPr/>
        </p:nvSpPr>
        <p:spPr>
          <a:xfrm>
            <a:off x="6724650" y="1471612"/>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Key Formulas (MathML)</a:t>
            </a:r>
            <a:endParaRPr/>
          </a:p>
        </p:txBody>
      </p:sp>
      <p:sp>
        <p:nvSpPr>
          <p:cNvPr id="348" name="Google Shape;348;p28"/>
          <p:cNvSpPr txBox="1"/>
          <p:nvPr/>
        </p:nvSpPr>
        <p:spPr>
          <a:xfrm>
            <a:off x="6724650" y="2005012"/>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Weighted F-Score (F_mean):</a:t>
            </a:r>
            <a:endParaRPr/>
          </a:p>
        </p:txBody>
      </p:sp>
      <p:sp>
        <p:nvSpPr>
          <p:cNvPr id="349" name="Google Shape;349;p28"/>
          <p:cNvSpPr txBox="1"/>
          <p:nvPr/>
        </p:nvSpPr>
        <p:spPr>
          <a:xfrm>
            <a:off x="6724650" y="3118842"/>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Fragmentation Penalty:</a:t>
            </a:r>
            <a:endParaRPr/>
          </a:p>
        </p:txBody>
      </p:sp>
      <p:sp>
        <p:nvSpPr>
          <p:cNvPr id="350" name="Google Shape;350;p28"/>
          <p:cNvSpPr txBox="1"/>
          <p:nvPr/>
        </p:nvSpPr>
        <p:spPr>
          <a:xfrm>
            <a:off x="6724650" y="4299495"/>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Final METEOR Score:</a:t>
            </a:r>
            <a:endParaRPr/>
          </a:p>
        </p:txBody>
      </p:sp>
      <p:sp>
        <p:nvSpPr>
          <p:cNvPr id="351" name="Google Shape;351;p28"/>
          <p:cNvSpPr txBox="1"/>
          <p:nvPr/>
        </p:nvSpPr>
        <p:spPr>
          <a:xfrm>
            <a:off x="1104900" y="2767012"/>
            <a:ext cx="952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1.</a:t>
            </a:r>
            <a:endParaRPr/>
          </a:p>
        </p:txBody>
      </p:sp>
      <p:sp>
        <p:nvSpPr>
          <p:cNvPr id="352" name="Google Shape;352;p28"/>
          <p:cNvSpPr txBox="1"/>
          <p:nvPr/>
        </p:nvSpPr>
        <p:spPr>
          <a:xfrm>
            <a:off x="1200150" y="2767012"/>
            <a:ext cx="4267200" cy="57150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Unigram Matching:</a:t>
            </a:r>
            <a:r>
              <a:rPr b="0" i="0" lang="en-US" sz="1500" u="none" cap="none" strike="noStrike">
                <a:solidFill>
                  <a:srgbClr val="333333"/>
                </a:solidFill>
                <a:latin typeface="DM Sans"/>
                <a:ea typeface="DM Sans"/>
                <a:cs typeface="DM Sans"/>
                <a:sym typeface="DM Sans"/>
              </a:rPr>
              <a:t> Matches words via exact, stem, synonym, and paraphrase.</a:t>
            </a:r>
            <a:endParaRPr/>
          </a:p>
        </p:txBody>
      </p:sp>
      <p:sp>
        <p:nvSpPr>
          <p:cNvPr id="353" name="Google Shape;353;p28"/>
          <p:cNvSpPr txBox="1"/>
          <p:nvPr/>
        </p:nvSpPr>
        <p:spPr>
          <a:xfrm>
            <a:off x="1047750" y="3481387"/>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2.</a:t>
            </a:r>
            <a:endParaRPr/>
          </a:p>
        </p:txBody>
      </p:sp>
      <p:sp>
        <p:nvSpPr>
          <p:cNvPr id="354" name="Google Shape;354;p28"/>
          <p:cNvSpPr txBox="1"/>
          <p:nvPr/>
        </p:nvSpPr>
        <p:spPr>
          <a:xfrm>
            <a:off x="1200150" y="3481387"/>
            <a:ext cx="4267200" cy="92340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Compute P &amp; R:</a:t>
            </a:r>
            <a:r>
              <a:rPr b="0" i="0" lang="en-US" sz="1500" u="none" cap="none" strike="noStrike">
                <a:solidFill>
                  <a:srgbClr val="333333"/>
                </a:solidFill>
                <a:latin typeface="DM Sans"/>
                <a:ea typeface="DM Sans"/>
                <a:cs typeface="DM Sans"/>
                <a:sym typeface="DM Sans"/>
              </a:rPr>
              <a:t> </a:t>
            </a:r>
            <a:endParaRPr b="0" i="0" sz="1500" u="none" cap="none" strike="noStrike">
              <a:solidFill>
                <a:srgbClr val="333333"/>
              </a:solidFill>
              <a:latin typeface="DM Sans"/>
              <a:ea typeface="DM Sans"/>
              <a:cs typeface="DM Sans"/>
              <a:sym typeface="DM Sans"/>
            </a:endParaRPr>
          </a:p>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P=matched unigram</a:t>
            </a:r>
            <a:r>
              <a:rPr lang="en-US" sz="1500">
                <a:solidFill>
                  <a:srgbClr val="333333"/>
                </a:solidFill>
                <a:latin typeface="DM Sans"/>
                <a:ea typeface="DM Sans"/>
                <a:cs typeface="DM Sans"/>
                <a:sym typeface="DM Sans"/>
              </a:rPr>
              <a:t>/</a:t>
            </a:r>
            <a:r>
              <a:rPr b="0" i="0" lang="en-US" sz="1500" u="none" cap="none" strike="noStrike">
                <a:solidFill>
                  <a:srgbClr val="333333"/>
                </a:solidFill>
                <a:latin typeface="DM Sans"/>
                <a:ea typeface="DM Sans"/>
                <a:cs typeface="DM Sans"/>
                <a:sym typeface="DM Sans"/>
              </a:rPr>
              <a:t>candidate unigram</a:t>
            </a:r>
            <a:endParaRPr b="0" i="0" sz="1500" u="none" cap="none" strike="noStrike">
              <a:solidFill>
                <a:srgbClr val="333333"/>
              </a:solidFill>
              <a:latin typeface="DM Sans"/>
              <a:ea typeface="DM Sans"/>
              <a:cs typeface="DM Sans"/>
              <a:sym typeface="DM Sans"/>
            </a:endParaRPr>
          </a:p>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R=matched unigram</a:t>
            </a:r>
            <a:r>
              <a:rPr lang="en-US" sz="1500">
                <a:solidFill>
                  <a:srgbClr val="333333"/>
                </a:solidFill>
                <a:latin typeface="DM Sans"/>
                <a:ea typeface="DM Sans"/>
                <a:cs typeface="DM Sans"/>
                <a:sym typeface="DM Sans"/>
              </a:rPr>
              <a:t>/</a:t>
            </a:r>
            <a:r>
              <a:rPr b="0" i="0" lang="en-US" sz="1500" u="none" cap="none" strike="noStrike">
                <a:solidFill>
                  <a:srgbClr val="333333"/>
                </a:solidFill>
                <a:latin typeface="DM Sans"/>
                <a:ea typeface="DM Sans"/>
                <a:cs typeface="DM Sans"/>
                <a:sym typeface="DM Sans"/>
              </a:rPr>
              <a:t>referenc</a:t>
            </a:r>
            <a:r>
              <a:rPr lang="en-US" sz="1500">
                <a:solidFill>
                  <a:srgbClr val="333333"/>
                </a:solidFill>
                <a:latin typeface="DM Sans"/>
                <a:ea typeface="DM Sans"/>
                <a:cs typeface="DM Sans"/>
                <a:sym typeface="DM Sans"/>
              </a:rPr>
              <a:t>e unigram</a:t>
            </a:r>
            <a:endParaRPr/>
          </a:p>
        </p:txBody>
      </p:sp>
      <p:sp>
        <p:nvSpPr>
          <p:cNvPr id="355" name="Google Shape;355;p28"/>
          <p:cNvSpPr txBox="1"/>
          <p:nvPr/>
        </p:nvSpPr>
        <p:spPr>
          <a:xfrm>
            <a:off x="1047750" y="4481512"/>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3.</a:t>
            </a:r>
            <a:endParaRPr/>
          </a:p>
        </p:txBody>
      </p:sp>
      <p:sp>
        <p:nvSpPr>
          <p:cNvPr id="356" name="Google Shape;356;p28"/>
          <p:cNvSpPr txBox="1"/>
          <p:nvPr/>
        </p:nvSpPr>
        <p:spPr>
          <a:xfrm>
            <a:off x="1200150" y="4481512"/>
            <a:ext cx="4267200" cy="57150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Weighted F-Score:</a:t>
            </a:r>
            <a:r>
              <a:rPr b="0" i="0" lang="en-US" sz="1500" u="none" cap="none" strike="noStrike">
                <a:solidFill>
                  <a:srgbClr val="333333"/>
                </a:solidFill>
                <a:latin typeface="DM Sans"/>
                <a:ea typeface="DM Sans"/>
                <a:cs typeface="DM Sans"/>
                <a:sym typeface="DM Sans"/>
              </a:rPr>
              <a:t> Calculates F_mean, giving 9x more weight to recall.</a:t>
            </a:r>
            <a:endParaRPr/>
          </a:p>
        </p:txBody>
      </p:sp>
      <p:sp>
        <p:nvSpPr>
          <p:cNvPr id="357" name="Google Shape;357;p28"/>
          <p:cNvSpPr txBox="1"/>
          <p:nvPr/>
        </p:nvSpPr>
        <p:spPr>
          <a:xfrm>
            <a:off x="1047750" y="5195887"/>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4.</a:t>
            </a:r>
            <a:endParaRPr/>
          </a:p>
        </p:txBody>
      </p:sp>
      <p:sp>
        <p:nvSpPr>
          <p:cNvPr id="358" name="Google Shape;358;p28"/>
          <p:cNvSpPr txBox="1"/>
          <p:nvPr/>
        </p:nvSpPr>
        <p:spPr>
          <a:xfrm>
            <a:off x="1200150" y="5195887"/>
            <a:ext cx="4267200" cy="57150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Fragmentation Penalty:</a:t>
            </a:r>
            <a:r>
              <a:rPr b="0" i="0" lang="en-US" sz="1500" u="none" cap="none" strike="noStrike">
                <a:solidFill>
                  <a:srgbClr val="333333"/>
                </a:solidFill>
                <a:latin typeface="DM Sans"/>
                <a:ea typeface="DM Sans"/>
                <a:cs typeface="DM Sans"/>
                <a:sym typeface="DM Sans"/>
              </a:rPr>
              <a:t> Penalizes scattered matches.</a:t>
            </a:r>
            <a:endParaRPr/>
          </a:p>
        </p:txBody>
      </p:sp>
      <p:sp>
        <p:nvSpPr>
          <p:cNvPr id="359" name="Google Shape;359;p28"/>
          <p:cNvSpPr txBox="1"/>
          <p:nvPr/>
        </p:nvSpPr>
        <p:spPr>
          <a:xfrm>
            <a:off x="1047750" y="5910262"/>
            <a:ext cx="1524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3333"/>
                </a:solidFill>
                <a:latin typeface="DM Sans"/>
                <a:ea typeface="DM Sans"/>
                <a:cs typeface="DM Sans"/>
                <a:sym typeface="DM Sans"/>
              </a:rPr>
              <a:t>5.</a:t>
            </a:r>
            <a:endParaRPr/>
          </a:p>
        </p:txBody>
      </p:sp>
      <p:sp>
        <p:nvSpPr>
          <p:cNvPr id="360" name="Google Shape;360;p28"/>
          <p:cNvSpPr txBox="1"/>
          <p:nvPr/>
        </p:nvSpPr>
        <p:spPr>
          <a:xfrm>
            <a:off x="1200150" y="5910262"/>
            <a:ext cx="4267200" cy="285750"/>
          </a:xfrm>
          <a:prstGeom prst="rect">
            <a:avLst/>
          </a:prstGeom>
          <a:noFill/>
          <a:ln>
            <a:noFill/>
          </a:ln>
        </p:spPr>
        <p:txBody>
          <a:bodyPr anchorCtr="0" anchor="t" bIns="0" lIns="1524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Final Score:</a:t>
            </a:r>
            <a:r>
              <a:rPr b="0" i="0" lang="en-US" sz="1500" u="none" cap="none" strike="noStrike">
                <a:solidFill>
                  <a:srgbClr val="333333"/>
                </a:solidFill>
                <a:latin typeface="DM Sans"/>
                <a:ea typeface="DM Sans"/>
                <a:cs typeface="DM Sans"/>
                <a:sym typeface="DM Sans"/>
              </a:rPr>
              <a:t> Combines F_mean and Penalty.</a:t>
            </a:r>
            <a:endParaRPr/>
          </a:p>
        </p:txBody>
      </p:sp>
      <p:sp>
        <p:nvSpPr>
          <p:cNvPr id="361" name="Google Shape;361;p28"/>
          <p:cNvSpPr txBox="1"/>
          <p:nvPr/>
        </p:nvSpPr>
        <p:spPr>
          <a:xfrm>
            <a:off x="571500" y="128587"/>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Evaluation Metric: METEOR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65" name="Shape 365"/>
        <p:cNvGrpSpPr/>
        <p:nvPr/>
      </p:nvGrpSpPr>
      <p:grpSpPr>
        <a:xfrm>
          <a:off x="0" y="0"/>
          <a:ext cx="0" cy="0"/>
          <a:chOff x="0" y="0"/>
          <a:chExt cx="0" cy="0"/>
        </a:xfrm>
      </p:grpSpPr>
      <p:pic>
        <p:nvPicPr>
          <p:cNvPr descr="image.png" id="366" name="Google Shape;366;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7" name="Google Shape;367;p29"/>
          <p:cNvPicPr preferRelativeResize="0"/>
          <p:nvPr/>
        </p:nvPicPr>
        <p:blipFill rotWithShape="1">
          <a:blip r:embed="rId4">
            <a:alphaModFix/>
          </a:blip>
          <a:srcRect b="0" l="0" r="0" t="0"/>
          <a:stretch/>
        </p:blipFill>
        <p:spPr>
          <a:xfrm>
            <a:off x="571500" y="1914376"/>
            <a:ext cx="5286375" cy="3981747"/>
          </a:xfrm>
          <a:prstGeom prst="rect">
            <a:avLst/>
          </a:prstGeom>
          <a:noFill/>
          <a:ln>
            <a:noFill/>
          </a:ln>
        </p:spPr>
      </p:pic>
      <p:pic>
        <p:nvPicPr>
          <p:cNvPr descr="image.png" id="368" name="Google Shape;368;p29"/>
          <p:cNvPicPr preferRelativeResize="0"/>
          <p:nvPr/>
        </p:nvPicPr>
        <p:blipFill rotWithShape="1">
          <a:blip r:embed="rId5">
            <a:alphaModFix/>
          </a:blip>
          <a:srcRect b="0" l="0" r="0" t="0"/>
          <a:stretch/>
        </p:blipFill>
        <p:spPr>
          <a:xfrm>
            <a:off x="6334125" y="1914376"/>
            <a:ext cx="5286375" cy="3981747"/>
          </a:xfrm>
          <a:prstGeom prst="rect">
            <a:avLst/>
          </a:prstGeom>
          <a:noFill/>
          <a:ln>
            <a:noFill/>
          </a:ln>
        </p:spPr>
      </p:pic>
      <p:sp>
        <p:nvSpPr>
          <p:cNvPr id="369" name="Google Shape;369;p29"/>
          <p:cNvSpPr txBox="1"/>
          <p:nvPr/>
        </p:nvSpPr>
        <p:spPr>
          <a:xfrm>
            <a:off x="962025" y="2304901"/>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ROUGE (Recall-Oriented...)</a:t>
            </a:r>
            <a:endParaRPr/>
          </a:p>
        </p:txBody>
      </p:sp>
      <p:sp>
        <p:nvSpPr>
          <p:cNvPr id="370" name="Google Shape;370;p29"/>
          <p:cNvSpPr txBox="1"/>
          <p:nvPr/>
        </p:nvSpPr>
        <p:spPr>
          <a:xfrm>
            <a:off x="962025" y="2838301"/>
            <a:ext cx="450532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A recall-focused metric that measures how much of the reference content is captured by the generated text.</a:t>
            </a:r>
            <a:endParaRPr/>
          </a:p>
        </p:txBody>
      </p:sp>
      <p:sp>
        <p:nvSpPr>
          <p:cNvPr id="371" name="Google Shape;371;p29"/>
          <p:cNvSpPr txBox="1"/>
          <p:nvPr/>
        </p:nvSpPr>
        <p:spPr>
          <a:xfrm>
            <a:off x="962025" y="3886051"/>
            <a:ext cx="45053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ROUGE-N:</a:t>
            </a:r>
            <a:r>
              <a:rPr b="0" i="0" lang="en-US" sz="1500" u="none" cap="none" strike="noStrike">
                <a:solidFill>
                  <a:srgbClr val="333333"/>
                </a:solidFill>
                <a:latin typeface="DM Sans"/>
                <a:ea typeface="DM Sans"/>
                <a:cs typeface="DM Sans"/>
                <a:sym typeface="DM Sans"/>
              </a:rPr>
              <a:t> Computes recall over matching n-grams.</a:t>
            </a:r>
            <a:endParaRPr/>
          </a:p>
        </p:txBody>
      </p:sp>
      <p:sp>
        <p:nvSpPr>
          <p:cNvPr id="372" name="Google Shape;372;p29"/>
          <p:cNvSpPr txBox="1"/>
          <p:nvPr/>
        </p:nvSpPr>
        <p:spPr>
          <a:xfrm>
            <a:off x="6724650" y="2304901"/>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ROUGE-L</a:t>
            </a:r>
            <a:endParaRPr/>
          </a:p>
        </p:txBody>
      </p:sp>
      <p:sp>
        <p:nvSpPr>
          <p:cNvPr id="373" name="Google Shape;373;p29"/>
          <p:cNvSpPr txBox="1"/>
          <p:nvPr/>
        </p:nvSpPr>
        <p:spPr>
          <a:xfrm>
            <a:off x="6724650" y="2838301"/>
            <a:ext cx="45053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Evaluates sentence-level structure using the Longest Common Subsequence (LCS).</a:t>
            </a:r>
            <a:endParaRPr/>
          </a:p>
        </p:txBody>
      </p:sp>
      <p:sp>
        <p:nvSpPr>
          <p:cNvPr id="374" name="Google Shape;374;p29"/>
          <p:cNvSpPr txBox="1"/>
          <p:nvPr/>
        </p:nvSpPr>
        <p:spPr>
          <a:xfrm>
            <a:off x="6724650" y="3600301"/>
            <a:ext cx="450532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3333"/>
                </a:solidFill>
                <a:latin typeface="DM Sans"/>
                <a:ea typeface="DM Sans"/>
                <a:cs typeface="DM Sans"/>
                <a:sym typeface="DM Sans"/>
              </a:rPr>
              <a:t>LCS F-Score (weights recall):</a:t>
            </a:r>
            <a:endParaRPr/>
          </a:p>
        </p:txBody>
      </p:sp>
      <p:sp>
        <p:nvSpPr>
          <p:cNvPr id="375" name="Google Shape;375;p29"/>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Evaluation Metric: ROUGE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79" name="Shape 379"/>
        <p:cNvGrpSpPr/>
        <p:nvPr/>
      </p:nvGrpSpPr>
      <p:grpSpPr>
        <a:xfrm>
          <a:off x="0" y="0"/>
          <a:ext cx="0" cy="0"/>
          <a:chOff x="0" y="0"/>
          <a:chExt cx="0" cy="0"/>
        </a:xfrm>
      </p:grpSpPr>
      <p:pic>
        <p:nvPicPr>
          <p:cNvPr descr="image.png" id="380" name="Google Shape;380;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1" name="Google Shape;381;p30"/>
          <p:cNvSpPr txBox="1"/>
          <p:nvPr/>
        </p:nvSpPr>
        <p:spPr>
          <a:xfrm>
            <a:off x="571500" y="17621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Image Captioning Benchmark</a:t>
            </a:r>
            <a:endParaRPr/>
          </a:p>
        </p:txBody>
      </p:sp>
      <p:sp>
        <p:nvSpPr>
          <p:cNvPr id="382" name="Google Shape;382;p30"/>
          <p:cNvSpPr txBox="1"/>
          <p:nvPr/>
        </p:nvSpPr>
        <p:spPr>
          <a:xfrm>
            <a:off x="571500" y="2295525"/>
            <a:ext cx="5286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The COCO (Common Objects in Context) dataset contains over 330,000 images.</a:t>
            </a:r>
            <a:endParaRPr/>
          </a:p>
        </p:txBody>
      </p:sp>
      <p:sp>
        <p:nvSpPr>
          <p:cNvPr id="383" name="Google Shape;383;p30"/>
          <p:cNvSpPr txBox="1"/>
          <p:nvPr/>
        </p:nvSpPr>
        <p:spPr>
          <a:xfrm>
            <a:off x="571500" y="3057525"/>
            <a:ext cx="5286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Each image is accompanied by </a:t>
            </a:r>
            <a:r>
              <a:rPr b="1" i="0" lang="en-US" sz="1500" u="none" cap="none" strike="noStrike">
                <a:solidFill>
                  <a:srgbClr val="333333"/>
                </a:solidFill>
                <a:latin typeface="DM Sans"/>
                <a:ea typeface="DM Sans"/>
                <a:cs typeface="DM Sans"/>
                <a:sym typeface="DM Sans"/>
              </a:rPr>
              <a:t>five</a:t>
            </a:r>
            <a:r>
              <a:rPr b="0" i="0" lang="en-US" sz="1500" u="none" cap="none" strike="noStrike">
                <a:solidFill>
                  <a:srgbClr val="333333"/>
                </a:solidFill>
                <a:latin typeface="DM Sans"/>
                <a:ea typeface="DM Sans"/>
                <a:cs typeface="DM Sans"/>
                <a:sym typeface="DM Sans"/>
              </a:rPr>
              <a:t> human-written "ground truth" captions, providing a reliable basis for evaluation.</a:t>
            </a:r>
            <a:endParaRPr/>
          </a:p>
        </p:txBody>
      </p:sp>
      <p:sp>
        <p:nvSpPr>
          <p:cNvPr id="384" name="Google Shape;384;p30"/>
          <p:cNvSpPr txBox="1"/>
          <p:nvPr/>
        </p:nvSpPr>
        <p:spPr>
          <a:xfrm>
            <a:off x="571500" y="38195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Ground Truth Example:</a:t>
            </a:r>
            <a:endParaRPr/>
          </a:p>
        </p:txBody>
      </p:sp>
      <p:sp>
        <p:nvSpPr>
          <p:cNvPr id="385" name="Google Shape;385;p30"/>
          <p:cNvSpPr txBox="1"/>
          <p:nvPr/>
        </p:nvSpPr>
        <p:spPr>
          <a:xfrm>
            <a:off x="571500" y="4314825"/>
            <a:ext cx="52863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3333"/>
                </a:solidFill>
                <a:latin typeface="DM Sans"/>
                <a:ea typeface="DM Sans"/>
                <a:cs typeface="DM Sans"/>
                <a:sym typeface="DM Sans"/>
              </a:rPr>
              <a:t>"1. A person rides a red bicycle past a food vendor."</a:t>
            </a:r>
            <a:endParaRPr/>
          </a:p>
        </p:txBody>
      </p:sp>
      <p:sp>
        <p:nvSpPr>
          <p:cNvPr id="386" name="Google Shape;386;p30"/>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Benchmark: COCO Dataset</a:t>
            </a:r>
            <a:endParaRPr/>
          </a:p>
        </p:txBody>
      </p:sp>
      <p:pic>
        <p:nvPicPr>
          <p:cNvPr id="387" name="Google Shape;387;p30" title="coco.png"/>
          <p:cNvPicPr preferRelativeResize="0"/>
          <p:nvPr/>
        </p:nvPicPr>
        <p:blipFill>
          <a:blip r:embed="rId4">
            <a:alphaModFix/>
          </a:blip>
          <a:stretch>
            <a:fillRect/>
          </a:stretch>
        </p:blipFill>
        <p:spPr>
          <a:xfrm>
            <a:off x="6558850" y="1447800"/>
            <a:ext cx="4570099" cy="45700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391" name="Shape 391"/>
        <p:cNvGrpSpPr/>
        <p:nvPr/>
      </p:nvGrpSpPr>
      <p:grpSpPr>
        <a:xfrm>
          <a:off x="0" y="0"/>
          <a:ext cx="0" cy="0"/>
          <a:chOff x="0" y="0"/>
          <a:chExt cx="0" cy="0"/>
        </a:xfrm>
      </p:grpSpPr>
      <p:pic>
        <p:nvPicPr>
          <p:cNvPr descr="image.png" id="392" name="Google Shape;392;p31"/>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93" name="Google Shape;393;p31"/>
          <p:cNvGraphicFramePr/>
          <p:nvPr/>
        </p:nvGraphicFramePr>
        <p:xfrm>
          <a:off x="571500" y="1524000"/>
          <a:ext cx="3000000" cy="3000000"/>
        </p:xfrm>
        <a:graphic>
          <a:graphicData uri="http://schemas.openxmlformats.org/drawingml/2006/table">
            <a:tbl>
              <a:tblPr bandRow="1" firstRow="1">
                <a:noFill/>
                <a:tableStyleId>{0C116D32-85B9-4D1D-8383-948903D5E1E7}</a:tableStyleId>
              </a:tblPr>
              <a:tblGrid>
                <a:gridCol w="1923600"/>
                <a:gridCol w="1335275"/>
                <a:gridCol w="1208175"/>
                <a:gridCol w="1239875"/>
                <a:gridCol w="1367125"/>
                <a:gridCol w="1160400"/>
                <a:gridCol w="1510150"/>
                <a:gridCol w="1304325"/>
              </a:tblGrid>
              <a:tr h="400575">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Params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Quant.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Size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Latency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BLEU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METEOR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ROUGE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8.10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8.289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0.2202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0.1207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3.29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5.084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0.0007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0.1491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0.0521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MiniCPM V4.5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8.71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22.07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0.0124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0.1659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0.1479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MiniCPM V4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3.83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5.834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0.0136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0.1969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0.1423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LLAVA 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Q8_0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7.70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24.33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0.0162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0.2113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0.1235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5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LLAVA 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8.54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4.598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0.0428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0.1833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0.5056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394" name="Google Shape;394;p31"/>
          <p:cNvSpPr/>
          <p:nvPr/>
        </p:nvSpPr>
        <p:spPr>
          <a:xfrm>
            <a:off x="571500" y="192300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31"/>
          <p:cNvSpPr/>
          <p:nvPr/>
        </p:nvSpPr>
        <p:spPr>
          <a:xfrm>
            <a:off x="2495103" y="192300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31"/>
          <p:cNvSpPr/>
          <p:nvPr/>
        </p:nvSpPr>
        <p:spPr>
          <a:xfrm>
            <a:off x="3830389" y="192300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31"/>
          <p:cNvSpPr/>
          <p:nvPr/>
        </p:nvSpPr>
        <p:spPr>
          <a:xfrm>
            <a:off x="5038576" y="192300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31"/>
          <p:cNvSpPr/>
          <p:nvPr/>
        </p:nvSpPr>
        <p:spPr>
          <a:xfrm>
            <a:off x="6278463" y="192300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31"/>
          <p:cNvSpPr/>
          <p:nvPr/>
        </p:nvSpPr>
        <p:spPr>
          <a:xfrm>
            <a:off x="7645598" y="192300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31"/>
          <p:cNvSpPr/>
          <p:nvPr/>
        </p:nvSpPr>
        <p:spPr>
          <a:xfrm>
            <a:off x="8806011" y="192300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31"/>
          <p:cNvSpPr/>
          <p:nvPr/>
        </p:nvSpPr>
        <p:spPr>
          <a:xfrm>
            <a:off x="10316170" y="192300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31"/>
          <p:cNvSpPr/>
          <p:nvPr/>
        </p:nvSpPr>
        <p:spPr>
          <a:xfrm>
            <a:off x="571500" y="232305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31"/>
          <p:cNvSpPr/>
          <p:nvPr/>
        </p:nvSpPr>
        <p:spPr>
          <a:xfrm>
            <a:off x="2495103" y="232305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31"/>
          <p:cNvSpPr/>
          <p:nvPr/>
        </p:nvSpPr>
        <p:spPr>
          <a:xfrm>
            <a:off x="3830389" y="232305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31"/>
          <p:cNvSpPr/>
          <p:nvPr/>
        </p:nvSpPr>
        <p:spPr>
          <a:xfrm>
            <a:off x="5038576" y="232305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31"/>
          <p:cNvSpPr/>
          <p:nvPr/>
        </p:nvSpPr>
        <p:spPr>
          <a:xfrm>
            <a:off x="6278463" y="232305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31"/>
          <p:cNvSpPr/>
          <p:nvPr/>
        </p:nvSpPr>
        <p:spPr>
          <a:xfrm>
            <a:off x="7645598" y="232305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31"/>
          <p:cNvSpPr/>
          <p:nvPr/>
        </p:nvSpPr>
        <p:spPr>
          <a:xfrm>
            <a:off x="8806011" y="232305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31"/>
          <p:cNvSpPr/>
          <p:nvPr/>
        </p:nvSpPr>
        <p:spPr>
          <a:xfrm>
            <a:off x="10316170" y="232305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31"/>
          <p:cNvSpPr/>
          <p:nvPr/>
        </p:nvSpPr>
        <p:spPr>
          <a:xfrm>
            <a:off x="571500" y="272310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31"/>
          <p:cNvSpPr/>
          <p:nvPr/>
        </p:nvSpPr>
        <p:spPr>
          <a:xfrm>
            <a:off x="2495103" y="272310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31"/>
          <p:cNvSpPr/>
          <p:nvPr/>
        </p:nvSpPr>
        <p:spPr>
          <a:xfrm>
            <a:off x="3830389" y="272310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31"/>
          <p:cNvSpPr/>
          <p:nvPr/>
        </p:nvSpPr>
        <p:spPr>
          <a:xfrm>
            <a:off x="5038576" y="272310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31"/>
          <p:cNvSpPr/>
          <p:nvPr/>
        </p:nvSpPr>
        <p:spPr>
          <a:xfrm>
            <a:off x="6278463" y="272310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31"/>
          <p:cNvSpPr/>
          <p:nvPr/>
        </p:nvSpPr>
        <p:spPr>
          <a:xfrm>
            <a:off x="7645598" y="272310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31"/>
          <p:cNvSpPr/>
          <p:nvPr/>
        </p:nvSpPr>
        <p:spPr>
          <a:xfrm>
            <a:off x="8806011" y="272310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31"/>
          <p:cNvSpPr/>
          <p:nvPr/>
        </p:nvSpPr>
        <p:spPr>
          <a:xfrm>
            <a:off x="10316170" y="272310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31"/>
          <p:cNvSpPr/>
          <p:nvPr/>
        </p:nvSpPr>
        <p:spPr>
          <a:xfrm>
            <a:off x="571500" y="312315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31"/>
          <p:cNvSpPr/>
          <p:nvPr/>
        </p:nvSpPr>
        <p:spPr>
          <a:xfrm>
            <a:off x="2495103" y="312315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31"/>
          <p:cNvSpPr/>
          <p:nvPr/>
        </p:nvSpPr>
        <p:spPr>
          <a:xfrm>
            <a:off x="3830389" y="312315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31"/>
          <p:cNvSpPr/>
          <p:nvPr/>
        </p:nvSpPr>
        <p:spPr>
          <a:xfrm>
            <a:off x="5038576" y="312315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31"/>
          <p:cNvSpPr/>
          <p:nvPr/>
        </p:nvSpPr>
        <p:spPr>
          <a:xfrm>
            <a:off x="6278463" y="312315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31"/>
          <p:cNvSpPr/>
          <p:nvPr/>
        </p:nvSpPr>
        <p:spPr>
          <a:xfrm>
            <a:off x="7645598" y="312315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31"/>
          <p:cNvSpPr/>
          <p:nvPr/>
        </p:nvSpPr>
        <p:spPr>
          <a:xfrm>
            <a:off x="8806011" y="312315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31"/>
          <p:cNvSpPr/>
          <p:nvPr/>
        </p:nvSpPr>
        <p:spPr>
          <a:xfrm>
            <a:off x="10316170" y="312315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31"/>
          <p:cNvSpPr/>
          <p:nvPr/>
        </p:nvSpPr>
        <p:spPr>
          <a:xfrm>
            <a:off x="571500" y="352320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31"/>
          <p:cNvSpPr/>
          <p:nvPr/>
        </p:nvSpPr>
        <p:spPr>
          <a:xfrm>
            <a:off x="2495103" y="352320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31"/>
          <p:cNvSpPr/>
          <p:nvPr/>
        </p:nvSpPr>
        <p:spPr>
          <a:xfrm>
            <a:off x="3830389" y="352320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31"/>
          <p:cNvSpPr/>
          <p:nvPr/>
        </p:nvSpPr>
        <p:spPr>
          <a:xfrm>
            <a:off x="5038576" y="352320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31"/>
          <p:cNvSpPr/>
          <p:nvPr/>
        </p:nvSpPr>
        <p:spPr>
          <a:xfrm>
            <a:off x="6278463" y="352320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31"/>
          <p:cNvSpPr/>
          <p:nvPr/>
        </p:nvSpPr>
        <p:spPr>
          <a:xfrm>
            <a:off x="7645598" y="352320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31"/>
          <p:cNvSpPr/>
          <p:nvPr/>
        </p:nvSpPr>
        <p:spPr>
          <a:xfrm>
            <a:off x="8806011" y="352320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31"/>
          <p:cNvSpPr/>
          <p:nvPr/>
        </p:nvSpPr>
        <p:spPr>
          <a:xfrm>
            <a:off x="10316170" y="352320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31"/>
          <p:cNvSpPr/>
          <p:nvPr/>
        </p:nvSpPr>
        <p:spPr>
          <a:xfrm>
            <a:off x="571500" y="3923258"/>
            <a:ext cx="1923603"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31"/>
          <p:cNvSpPr/>
          <p:nvPr/>
        </p:nvSpPr>
        <p:spPr>
          <a:xfrm>
            <a:off x="2495103" y="3923258"/>
            <a:ext cx="133528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31"/>
          <p:cNvSpPr/>
          <p:nvPr/>
        </p:nvSpPr>
        <p:spPr>
          <a:xfrm>
            <a:off x="3830389" y="3923258"/>
            <a:ext cx="1208186"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31"/>
          <p:cNvSpPr/>
          <p:nvPr/>
        </p:nvSpPr>
        <p:spPr>
          <a:xfrm>
            <a:off x="5038576" y="3923258"/>
            <a:ext cx="123988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31"/>
          <p:cNvSpPr/>
          <p:nvPr/>
        </p:nvSpPr>
        <p:spPr>
          <a:xfrm>
            <a:off x="6278463" y="3923258"/>
            <a:ext cx="136713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1"/>
          <p:cNvSpPr/>
          <p:nvPr/>
        </p:nvSpPr>
        <p:spPr>
          <a:xfrm>
            <a:off x="7645598" y="3923258"/>
            <a:ext cx="1160412"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31"/>
          <p:cNvSpPr/>
          <p:nvPr/>
        </p:nvSpPr>
        <p:spPr>
          <a:xfrm>
            <a:off x="8806011" y="3923258"/>
            <a:ext cx="1510158"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31"/>
          <p:cNvSpPr/>
          <p:nvPr/>
        </p:nvSpPr>
        <p:spPr>
          <a:xfrm>
            <a:off x="10316170" y="3923258"/>
            <a:ext cx="1304329"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31"/>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Results: INT8 Quantization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46" name="Shape 446"/>
        <p:cNvGrpSpPr/>
        <p:nvPr/>
      </p:nvGrpSpPr>
      <p:grpSpPr>
        <a:xfrm>
          <a:off x="0" y="0"/>
          <a:ext cx="0" cy="0"/>
          <a:chOff x="0" y="0"/>
          <a:chExt cx="0" cy="0"/>
        </a:xfrm>
      </p:grpSpPr>
      <p:pic>
        <p:nvPicPr>
          <p:cNvPr descr="image.png" id="447" name="Google Shape;447;p32"/>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448" name="Google Shape;448;p32"/>
          <p:cNvGraphicFramePr/>
          <p:nvPr/>
        </p:nvGraphicFramePr>
        <p:xfrm>
          <a:off x="571500" y="1524000"/>
          <a:ext cx="3000000" cy="3000000"/>
        </p:xfrm>
        <a:graphic>
          <a:graphicData uri="http://schemas.openxmlformats.org/drawingml/2006/table">
            <a:tbl>
              <a:tblPr bandRow="1" firstRow="1">
                <a:noFill/>
                <a:tableStyleId>{0C116D32-85B9-4D1D-8383-948903D5E1E7}</a:tableStyleId>
              </a:tblPr>
              <a:tblGrid>
                <a:gridCol w="1920775"/>
                <a:gridCol w="1333500"/>
                <a:gridCol w="1206400"/>
                <a:gridCol w="1238250"/>
                <a:gridCol w="1365200"/>
                <a:gridCol w="1174700"/>
                <a:gridCol w="1508075"/>
                <a:gridCol w="1302100"/>
              </a:tblGrid>
              <a:tr h="400475">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Params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Quant.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Size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Latency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BLEU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METEOR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200" u="none" cap="none" strike="noStrike">
                          <a:solidFill>
                            <a:srgbClr val="005088"/>
                          </a:solidFill>
                          <a:latin typeface="Merriweather"/>
                          <a:ea typeface="Merriweather"/>
                          <a:cs typeface="Merriweather"/>
                          <a:sym typeface="Merriweather"/>
                        </a:rPr>
                        <a:t>ROUGE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BF16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15.2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14.276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0.0174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0.2277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0.1265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4.68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3.544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0.0099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0.2209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0.1215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BF16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6.18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8.136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0.0009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0.1473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0.0531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Qwen 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3B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1.93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2.527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0.0008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0.1429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0.0494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MiniCPM V4.5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5.03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7.458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0.0036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0.1134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0.1536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MiniCPM V4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2.19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4.923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0.0103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0.1276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0.1423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LLAVA 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7B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4.37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12.802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0.0136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0.2066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0.0785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0475">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LLAVA 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8B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Q4 KM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4.92 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2.690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0.4170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0.2667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3333"/>
                          </a:solidFill>
                          <a:latin typeface="DM Sans"/>
                          <a:ea typeface="DM Sans"/>
                          <a:cs typeface="DM Sans"/>
                          <a:sym typeface="DM Sans"/>
                        </a:rPr>
                        <a:t>0.1853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449" name="Google Shape;449;p32"/>
          <p:cNvSpPr/>
          <p:nvPr/>
        </p:nvSpPr>
        <p:spPr>
          <a:xfrm>
            <a:off x="571500" y="192300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32"/>
          <p:cNvSpPr/>
          <p:nvPr/>
        </p:nvSpPr>
        <p:spPr>
          <a:xfrm>
            <a:off x="2492275" y="192300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2"/>
          <p:cNvSpPr/>
          <p:nvPr/>
        </p:nvSpPr>
        <p:spPr>
          <a:xfrm>
            <a:off x="3825775" y="192300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32"/>
          <p:cNvSpPr/>
          <p:nvPr/>
        </p:nvSpPr>
        <p:spPr>
          <a:xfrm>
            <a:off x="5032176" y="192300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32"/>
          <p:cNvSpPr/>
          <p:nvPr/>
        </p:nvSpPr>
        <p:spPr>
          <a:xfrm>
            <a:off x="6270426" y="192300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32"/>
          <p:cNvSpPr/>
          <p:nvPr/>
        </p:nvSpPr>
        <p:spPr>
          <a:xfrm>
            <a:off x="7635626" y="192300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2"/>
          <p:cNvSpPr/>
          <p:nvPr/>
        </p:nvSpPr>
        <p:spPr>
          <a:xfrm>
            <a:off x="8810327" y="192300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32"/>
          <p:cNvSpPr/>
          <p:nvPr/>
        </p:nvSpPr>
        <p:spPr>
          <a:xfrm>
            <a:off x="10318402" y="192300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32"/>
          <p:cNvSpPr/>
          <p:nvPr/>
        </p:nvSpPr>
        <p:spPr>
          <a:xfrm>
            <a:off x="571500" y="232305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32"/>
          <p:cNvSpPr/>
          <p:nvPr/>
        </p:nvSpPr>
        <p:spPr>
          <a:xfrm>
            <a:off x="2492275" y="232305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2"/>
          <p:cNvSpPr/>
          <p:nvPr/>
        </p:nvSpPr>
        <p:spPr>
          <a:xfrm>
            <a:off x="3825775" y="232305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32"/>
          <p:cNvSpPr/>
          <p:nvPr/>
        </p:nvSpPr>
        <p:spPr>
          <a:xfrm>
            <a:off x="5032176" y="232305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2"/>
          <p:cNvSpPr/>
          <p:nvPr/>
        </p:nvSpPr>
        <p:spPr>
          <a:xfrm>
            <a:off x="6270426" y="232305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32"/>
          <p:cNvSpPr/>
          <p:nvPr/>
        </p:nvSpPr>
        <p:spPr>
          <a:xfrm>
            <a:off x="7635626" y="232305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2"/>
          <p:cNvSpPr/>
          <p:nvPr/>
        </p:nvSpPr>
        <p:spPr>
          <a:xfrm>
            <a:off x="8810327" y="232305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32"/>
          <p:cNvSpPr/>
          <p:nvPr/>
        </p:nvSpPr>
        <p:spPr>
          <a:xfrm>
            <a:off x="10318402" y="232305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32"/>
          <p:cNvSpPr/>
          <p:nvPr/>
        </p:nvSpPr>
        <p:spPr>
          <a:xfrm>
            <a:off x="571500" y="272310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32"/>
          <p:cNvSpPr/>
          <p:nvPr/>
        </p:nvSpPr>
        <p:spPr>
          <a:xfrm>
            <a:off x="2492275" y="272310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32"/>
          <p:cNvSpPr/>
          <p:nvPr/>
        </p:nvSpPr>
        <p:spPr>
          <a:xfrm>
            <a:off x="3825775" y="272310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32"/>
          <p:cNvSpPr/>
          <p:nvPr/>
        </p:nvSpPr>
        <p:spPr>
          <a:xfrm>
            <a:off x="5032176" y="272310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32"/>
          <p:cNvSpPr/>
          <p:nvPr/>
        </p:nvSpPr>
        <p:spPr>
          <a:xfrm>
            <a:off x="6270426" y="272310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32"/>
          <p:cNvSpPr/>
          <p:nvPr/>
        </p:nvSpPr>
        <p:spPr>
          <a:xfrm>
            <a:off x="7635626" y="272310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32"/>
          <p:cNvSpPr/>
          <p:nvPr/>
        </p:nvSpPr>
        <p:spPr>
          <a:xfrm>
            <a:off x="8810327" y="272310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32"/>
          <p:cNvSpPr/>
          <p:nvPr/>
        </p:nvSpPr>
        <p:spPr>
          <a:xfrm>
            <a:off x="10318402" y="272310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32"/>
          <p:cNvSpPr/>
          <p:nvPr/>
        </p:nvSpPr>
        <p:spPr>
          <a:xfrm>
            <a:off x="571500" y="312315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32"/>
          <p:cNvSpPr/>
          <p:nvPr/>
        </p:nvSpPr>
        <p:spPr>
          <a:xfrm>
            <a:off x="2492275" y="312315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2"/>
          <p:cNvSpPr/>
          <p:nvPr/>
        </p:nvSpPr>
        <p:spPr>
          <a:xfrm>
            <a:off x="3825775" y="312315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32"/>
          <p:cNvSpPr/>
          <p:nvPr/>
        </p:nvSpPr>
        <p:spPr>
          <a:xfrm>
            <a:off x="5032176" y="312315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32"/>
          <p:cNvSpPr/>
          <p:nvPr/>
        </p:nvSpPr>
        <p:spPr>
          <a:xfrm>
            <a:off x="6270426" y="312315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8" name="Google Shape;478;p32"/>
          <p:cNvSpPr/>
          <p:nvPr/>
        </p:nvSpPr>
        <p:spPr>
          <a:xfrm>
            <a:off x="7635626" y="312315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32"/>
          <p:cNvSpPr/>
          <p:nvPr/>
        </p:nvSpPr>
        <p:spPr>
          <a:xfrm>
            <a:off x="8810327" y="312315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0" name="Google Shape;480;p32"/>
          <p:cNvSpPr/>
          <p:nvPr/>
        </p:nvSpPr>
        <p:spPr>
          <a:xfrm>
            <a:off x="10318402" y="312315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32"/>
          <p:cNvSpPr/>
          <p:nvPr/>
        </p:nvSpPr>
        <p:spPr>
          <a:xfrm>
            <a:off x="571500" y="352320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2" name="Google Shape;482;p32"/>
          <p:cNvSpPr/>
          <p:nvPr/>
        </p:nvSpPr>
        <p:spPr>
          <a:xfrm>
            <a:off x="2492275" y="352320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32"/>
          <p:cNvSpPr/>
          <p:nvPr/>
        </p:nvSpPr>
        <p:spPr>
          <a:xfrm>
            <a:off x="3825775" y="352320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4" name="Google Shape;484;p32"/>
          <p:cNvSpPr/>
          <p:nvPr/>
        </p:nvSpPr>
        <p:spPr>
          <a:xfrm>
            <a:off x="5032176" y="352320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32"/>
          <p:cNvSpPr/>
          <p:nvPr/>
        </p:nvSpPr>
        <p:spPr>
          <a:xfrm>
            <a:off x="6270426" y="352320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32"/>
          <p:cNvSpPr/>
          <p:nvPr/>
        </p:nvSpPr>
        <p:spPr>
          <a:xfrm>
            <a:off x="7635626" y="352320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2"/>
          <p:cNvSpPr/>
          <p:nvPr/>
        </p:nvSpPr>
        <p:spPr>
          <a:xfrm>
            <a:off x="8810327" y="352320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32"/>
          <p:cNvSpPr/>
          <p:nvPr/>
        </p:nvSpPr>
        <p:spPr>
          <a:xfrm>
            <a:off x="10318402" y="352320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32"/>
          <p:cNvSpPr/>
          <p:nvPr/>
        </p:nvSpPr>
        <p:spPr>
          <a:xfrm>
            <a:off x="571500" y="392325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32"/>
          <p:cNvSpPr/>
          <p:nvPr/>
        </p:nvSpPr>
        <p:spPr>
          <a:xfrm>
            <a:off x="2492275" y="392325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32"/>
          <p:cNvSpPr/>
          <p:nvPr/>
        </p:nvSpPr>
        <p:spPr>
          <a:xfrm>
            <a:off x="3825775" y="392325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32"/>
          <p:cNvSpPr/>
          <p:nvPr/>
        </p:nvSpPr>
        <p:spPr>
          <a:xfrm>
            <a:off x="5032176" y="392325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2"/>
          <p:cNvSpPr/>
          <p:nvPr/>
        </p:nvSpPr>
        <p:spPr>
          <a:xfrm>
            <a:off x="6270426" y="392325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32"/>
          <p:cNvSpPr/>
          <p:nvPr/>
        </p:nvSpPr>
        <p:spPr>
          <a:xfrm>
            <a:off x="7635626" y="392325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2"/>
          <p:cNvSpPr/>
          <p:nvPr/>
        </p:nvSpPr>
        <p:spPr>
          <a:xfrm>
            <a:off x="8810327" y="392325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6" name="Google Shape;496;p32"/>
          <p:cNvSpPr/>
          <p:nvPr/>
        </p:nvSpPr>
        <p:spPr>
          <a:xfrm>
            <a:off x="10318402" y="392325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32"/>
          <p:cNvSpPr/>
          <p:nvPr/>
        </p:nvSpPr>
        <p:spPr>
          <a:xfrm>
            <a:off x="571500" y="432330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8" name="Google Shape;498;p32"/>
          <p:cNvSpPr/>
          <p:nvPr/>
        </p:nvSpPr>
        <p:spPr>
          <a:xfrm>
            <a:off x="2492275" y="432330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2"/>
          <p:cNvSpPr/>
          <p:nvPr/>
        </p:nvSpPr>
        <p:spPr>
          <a:xfrm>
            <a:off x="3825775" y="432330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32"/>
          <p:cNvSpPr/>
          <p:nvPr/>
        </p:nvSpPr>
        <p:spPr>
          <a:xfrm>
            <a:off x="5032176" y="432330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32"/>
          <p:cNvSpPr/>
          <p:nvPr/>
        </p:nvSpPr>
        <p:spPr>
          <a:xfrm>
            <a:off x="6270426" y="432330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32"/>
          <p:cNvSpPr/>
          <p:nvPr/>
        </p:nvSpPr>
        <p:spPr>
          <a:xfrm>
            <a:off x="7635626" y="432330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32"/>
          <p:cNvSpPr/>
          <p:nvPr/>
        </p:nvSpPr>
        <p:spPr>
          <a:xfrm>
            <a:off x="8810327" y="432330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32"/>
          <p:cNvSpPr/>
          <p:nvPr/>
        </p:nvSpPr>
        <p:spPr>
          <a:xfrm>
            <a:off x="10318402" y="432330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32"/>
          <p:cNvSpPr/>
          <p:nvPr/>
        </p:nvSpPr>
        <p:spPr>
          <a:xfrm>
            <a:off x="571500" y="4723358"/>
            <a:ext cx="19207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32"/>
          <p:cNvSpPr/>
          <p:nvPr/>
        </p:nvSpPr>
        <p:spPr>
          <a:xfrm>
            <a:off x="2492275" y="4723358"/>
            <a:ext cx="13335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32"/>
          <p:cNvSpPr/>
          <p:nvPr/>
        </p:nvSpPr>
        <p:spPr>
          <a:xfrm>
            <a:off x="3825775" y="4723358"/>
            <a:ext cx="12064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32"/>
          <p:cNvSpPr/>
          <p:nvPr/>
        </p:nvSpPr>
        <p:spPr>
          <a:xfrm>
            <a:off x="5032176" y="4723358"/>
            <a:ext cx="123825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2"/>
          <p:cNvSpPr/>
          <p:nvPr/>
        </p:nvSpPr>
        <p:spPr>
          <a:xfrm>
            <a:off x="6270426" y="4723358"/>
            <a:ext cx="13652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32"/>
          <p:cNvSpPr/>
          <p:nvPr/>
        </p:nvSpPr>
        <p:spPr>
          <a:xfrm>
            <a:off x="7635626" y="4723358"/>
            <a:ext cx="1174700"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2"/>
          <p:cNvSpPr/>
          <p:nvPr/>
        </p:nvSpPr>
        <p:spPr>
          <a:xfrm>
            <a:off x="8810327" y="4723358"/>
            <a:ext cx="1508075"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32"/>
          <p:cNvSpPr/>
          <p:nvPr/>
        </p:nvSpPr>
        <p:spPr>
          <a:xfrm>
            <a:off x="10318402" y="4723358"/>
            <a:ext cx="1302097" cy="952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32"/>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Results: INT4 Quantization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517" name="Shape 517"/>
        <p:cNvGrpSpPr/>
        <p:nvPr/>
      </p:nvGrpSpPr>
      <p:grpSpPr>
        <a:xfrm>
          <a:off x="0" y="0"/>
          <a:ext cx="0" cy="0"/>
          <a:chOff x="0" y="0"/>
          <a:chExt cx="0" cy="0"/>
        </a:xfrm>
      </p:grpSpPr>
      <p:pic>
        <p:nvPicPr>
          <p:cNvPr descr="image.png" id="518" name="Google Shape;518;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19" name="Google Shape;519;p33"/>
          <p:cNvPicPr preferRelativeResize="0"/>
          <p:nvPr/>
        </p:nvPicPr>
        <p:blipFill rotWithShape="1">
          <a:blip r:embed="rId4">
            <a:alphaModFix/>
          </a:blip>
          <a:srcRect b="0" l="0" r="0" t="0"/>
          <a:stretch/>
        </p:blipFill>
        <p:spPr>
          <a:xfrm>
            <a:off x="571500" y="2295525"/>
            <a:ext cx="5286375" cy="3219450"/>
          </a:xfrm>
          <a:prstGeom prst="rect">
            <a:avLst/>
          </a:prstGeom>
          <a:noFill/>
          <a:ln>
            <a:noFill/>
          </a:ln>
        </p:spPr>
      </p:pic>
      <p:pic>
        <p:nvPicPr>
          <p:cNvPr descr="image.png" id="520" name="Google Shape;520;p33"/>
          <p:cNvPicPr preferRelativeResize="0"/>
          <p:nvPr/>
        </p:nvPicPr>
        <p:blipFill rotWithShape="1">
          <a:blip r:embed="rId5">
            <a:alphaModFix/>
          </a:blip>
          <a:srcRect b="0" l="0" r="0" t="0"/>
          <a:stretch/>
        </p:blipFill>
        <p:spPr>
          <a:xfrm>
            <a:off x="6334125" y="2295525"/>
            <a:ext cx="5286375" cy="3219450"/>
          </a:xfrm>
          <a:prstGeom prst="rect">
            <a:avLst/>
          </a:prstGeom>
          <a:noFill/>
          <a:ln>
            <a:noFill/>
          </a:ln>
        </p:spPr>
      </p:pic>
      <p:sp>
        <p:nvSpPr>
          <p:cNvPr id="521" name="Google Shape;521;p33"/>
          <p:cNvSpPr txBox="1"/>
          <p:nvPr/>
        </p:nvSpPr>
        <p:spPr>
          <a:xfrm>
            <a:off x="962025" y="2686050"/>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INT8 Performance</a:t>
            </a:r>
            <a:endParaRPr/>
          </a:p>
        </p:txBody>
      </p:sp>
      <p:sp>
        <p:nvSpPr>
          <p:cNvPr id="522" name="Google Shape;522;p33"/>
          <p:cNvSpPr txBox="1"/>
          <p:nvPr/>
        </p:nvSpPr>
        <p:spPr>
          <a:xfrm>
            <a:off x="962025" y="3219450"/>
            <a:ext cx="4505325" cy="1428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INT8 quantization (Q8_0) preserves accuracy well across all models. Qwen 2.5 (7B) and LLaVA 1.6 achieve some of the strongest METEOR and ROUGE performance, indicating good retention of semantic quality.</a:t>
            </a:r>
            <a:endParaRPr/>
          </a:p>
        </p:txBody>
      </p:sp>
      <p:sp>
        <p:nvSpPr>
          <p:cNvPr id="523" name="Google Shape;523;p33"/>
          <p:cNvSpPr txBox="1"/>
          <p:nvPr/>
        </p:nvSpPr>
        <p:spPr>
          <a:xfrm>
            <a:off x="6724650" y="2686050"/>
            <a:ext cx="4730591"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INT4 Performance</a:t>
            </a:r>
            <a:endParaRPr/>
          </a:p>
        </p:txBody>
      </p:sp>
      <p:sp>
        <p:nvSpPr>
          <p:cNvPr id="524" name="Google Shape;524;p33"/>
          <p:cNvSpPr txBox="1"/>
          <p:nvPr/>
        </p:nvSpPr>
        <p:spPr>
          <a:xfrm>
            <a:off x="6724650" y="3219450"/>
            <a:ext cx="4505325" cy="1714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333333"/>
                </a:solidFill>
                <a:latin typeface="DM Sans"/>
                <a:ea typeface="DM Sans"/>
                <a:cs typeface="DM Sans"/>
                <a:sym typeface="DM Sans"/>
              </a:rPr>
              <a:t>INT4 quantization (Q4_KM) significantly reduces model size and latency. MiniCPM 4B (2.19 GB) and Qwen 3B (1.93 GB) become highly suitable for edge deployment. LLaVA 3 (8B) shows exceptionally strong BLEU/METEOR scores, demonstrating that Q4_KM retains high captioning quality.</a:t>
            </a:r>
            <a:endParaRPr/>
          </a:p>
        </p:txBody>
      </p:sp>
      <p:sp>
        <p:nvSpPr>
          <p:cNvPr id="525" name="Google Shape;525;p33"/>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Results Summary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529" name="Shape 529"/>
        <p:cNvGrpSpPr/>
        <p:nvPr/>
      </p:nvGrpSpPr>
      <p:grpSpPr>
        <a:xfrm>
          <a:off x="0" y="0"/>
          <a:ext cx="0" cy="0"/>
          <a:chOff x="0" y="0"/>
          <a:chExt cx="0" cy="0"/>
        </a:xfrm>
      </p:grpSpPr>
      <p:pic>
        <p:nvPicPr>
          <p:cNvPr descr="image.png" id="530" name="Google Shape;530;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31" name="Google Shape;531;p34"/>
          <p:cNvSpPr/>
          <p:nvPr/>
        </p:nvSpPr>
        <p:spPr>
          <a:xfrm>
            <a:off x="5619750" y="2052935"/>
            <a:ext cx="952500" cy="477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34"/>
          <p:cNvSpPr txBox="1"/>
          <p:nvPr/>
        </p:nvSpPr>
        <p:spPr>
          <a:xfrm>
            <a:off x="4160758" y="2386310"/>
            <a:ext cx="3870600" cy="83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005088"/>
                </a:solidFill>
                <a:latin typeface="Merriweather"/>
                <a:ea typeface="Merriweather"/>
                <a:cs typeface="Merriweather"/>
                <a:sym typeface="Merriweather"/>
              </a:rPr>
              <a:t>Conclusion</a:t>
            </a:r>
            <a:endParaRPr/>
          </a:p>
        </p:txBody>
      </p:sp>
      <p:sp>
        <p:nvSpPr>
          <p:cNvPr id="533" name="Google Shape;533;p34"/>
          <p:cNvSpPr txBox="1"/>
          <p:nvPr/>
        </p:nvSpPr>
        <p:spPr>
          <a:xfrm>
            <a:off x="1123950" y="3415010"/>
            <a:ext cx="9944100" cy="1675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333333"/>
                </a:solidFill>
                <a:latin typeface="DM Sans"/>
                <a:ea typeface="DM Sans"/>
                <a:cs typeface="DM Sans"/>
                <a:sym typeface="DM Sans"/>
              </a:rPr>
              <a:t>Quantization is a crucial technique for enabling the deployment of large language models and multimodal systems on standard hardware. Methods such as INT8 and INT4, along with fine-grained blockwise approaches, allow substantial reductions in memory and computational requirements while preserving model accuracy. The GGUF format further enhances inference efficiency on CPU/mobile platforms. Evaluations show quantized models deliver competitive performance.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